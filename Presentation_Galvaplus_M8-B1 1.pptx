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le cadrage du cas Galvaplus Industries, centré sur la maintenance prédictive de quatre bains de galvanisation à chaud.,Le fil directeur est simple : partir du besoin réel, vérifier la faisabilité par les données, proposer une architecture sobre et maîtriser l’imprévu d’un arrêt automatique nocturne.,[Sources]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Galvaplus exploite quatre bains en continu. Les arrêts coûtent environ 30 000 euros chacun et surviennent deux à trois fois par mois.,Le besoin réel n’est pas un nouveau tableau de bord. Il s’agit d’anticiper les dérives pour intervenir avant l’arrêt.,L’imprévu client introduit l’arrêt automatique la nuit au-delà de 90 %. Cela augmente fortement les exigences de sûreté et de gouvernance.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socle de données est prometteur : trois variables, deux ans d’historique horaire et environ cinquante pannes.,Cependant, l’extrait de 48 heures ne prouve pas qu’une panne est prédictible. Les évolutions observées sont seulement des signaux potentiels à confronter au journal de maintenance.,La priorité est donc la qualité des étiquettes et l’alignement temporel entre mesures et incidents.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L’arbitrage vise la sobriété. On commence par une référence simple, puis on teste un modèle classique uniquement si la qualité des étiquettes le permet.,Le deep learning et les LLM sont écartés : les données sont numériques, structurées et le volume d’incidents est faible.,La bonne question n’est pas “quel modèle est le plus sophistiqué ?”, mais “quel niveau de complexité apporte un gain mesurable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respecte la séparation OT/IT et l’absence de connexion Internet dans l’atelier.,Le pilote est en lecture seule : collecte, contrôle qualité, score de risque, alerte, validation humaine et journalisation.,L’arrêt automatique est représenté comme une possibilité future, non activée tant que les performances et la sûreté ne sont pas démontrées.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test doit respecter le temps : apprentissage sur le passé, évaluation sur des périodes futures.,Le KPI client est la détection d’au moins 70 % des pannes 48 heures avant. Le seuil d’acceptabilité en dessous de 70 % reste à définir avec le client.,Le nombre limité de pannes impose une interprétation prudente et une observation réelle pendant le pilote.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demande de la direction ne doit pas être refusée sans étude, mais elle ne doit pas non plus être activée sur la base d’un simple seuil à 90 %.,Une probabilité de modèle n’est pas une garantie de sécurité. Il faut une logique de sûreté indépendante, des protections maintenues et une validation par les responsables concernés.,La posture de cadrage consiste à distinguer la cible étudiée de la fonction réellement autorisée pendant le pilote.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feuille de route comporte quatre étapes : audit, test hors ligne, pilote sur un bain, puis décision.,La conclusion est volontairement conditionnelle : la maintenance prédictive est pertinente à étudier, mais l’arrêt automatique dépend d’une preuve simultanée de valeur et de sûreté.,Cette recommandation est sobre, progressive et compatible avec le contexte industriel isolé.</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B2"/>
          </a:solidFill>
          <a:ln w="12700">
            <a:solidFill>
              <a:srgbClr val="00A6B2"/>
            </a:solidFill>
            <a:prstDash val="solid"/>
          </a:ln>
        </p:spPr>
      </p:sp>
      <p:sp>
        <p:nvSpPr>
          <p:cNvPr id="3" name="Text 1"/>
          <p:cNvSpPr/>
          <p:nvPr/>
        </p:nvSpPr>
        <p:spPr>
          <a:xfrm>
            <a:off x="502920" y="6547104"/>
            <a:ext cx="5029200" cy="164592"/>
          </a:xfrm>
          <a:prstGeom prst="rect">
            <a:avLst/>
          </a:prstGeom>
          <a:noFill/>
          <a:ln/>
        </p:spPr>
        <p:txBody>
          <a:bodyPr wrap="square" lIns="0" tIns="0" rIns="0" bIns="0" rtlCol="0" anchor="ctr"/>
          <a:lstStyle/>
          <a:p>
            <a:pPr marL="0" indent="0">
              <a:buNone/>
            </a:pPr>
            <a:r>
              <a:rPr lang="en-US" sz="800" dirty="0">
                <a:solidFill>
                  <a:srgbClr val="6B7785"/>
                </a:solidFill>
                <a:latin typeface="Aptos" pitchFamily="34" charset="0"/>
                <a:ea typeface="Aptos" pitchFamily="34" charset="-122"/>
                <a:cs typeface="Aptos" pitchFamily="34" charset="-120"/>
              </a:rPr>
              <a:t>M8-B1 • Cadrage d’un projet IA</a:t>
            </a:r>
            <a:endParaRPr lang="en-US" sz="800" dirty="0"/>
          </a:p>
        </p:txBody>
      </p:sp>
      <p:sp>
        <p:nvSpPr>
          <p:cNvPr id="4" name="Text 2"/>
          <p:cNvSpPr/>
          <p:nvPr/>
        </p:nvSpPr>
        <p:spPr>
          <a:xfrm>
            <a:off x="9829800" y="6547104"/>
            <a:ext cx="1828800" cy="164592"/>
          </a:xfrm>
          <a:prstGeom prst="rect">
            <a:avLst/>
          </a:prstGeom>
          <a:noFill/>
          <a:ln/>
        </p:spPr>
        <p:txBody>
          <a:bodyPr wrap="square" lIns="0" tIns="0" rIns="0" bIns="0" rtlCol="0" anchor="ctr"/>
          <a:lstStyle/>
          <a:p>
            <a:pPr marL="0" indent="0" algn="r">
              <a:buNone/>
            </a:pPr>
            <a:r>
              <a:rPr lang="en-US" sz="800" dirty="0">
                <a:solidFill>
                  <a:srgbClr val="6B7785"/>
                </a:solidFill>
                <a:latin typeface="Aptos" pitchFamily="34" charset="0"/>
                <a:ea typeface="Aptos" pitchFamily="34" charset="-122"/>
                <a:cs typeface="Aptos" pitchFamily="34" charset="-120"/>
              </a:rPr>
              <a:t>Galvaplus Industries</a:t>
            </a:r>
            <a:endParaRPr lang="en-US" sz="800" dirty="0"/>
          </a:p>
        </p:txBody>
      </p:sp>
      <p:sp>
        <p:nvSpPr>
          <p:cNvPr id="25" name="Slide Number Placeholder 0"/>
          <p:cNvSpPr>
            <a:spLocks noGrp="1"/>
          </p:cNvSpPr>
          <p:nvPr>
            <p:ph type="sldNum" sz="quarter" idx="4294967295"/>
          </p:nvPr>
        </p:nvSpPr>
        <p:spPr>
          <a:xfrm>
            <a:off x="11722608" y="6528816"/>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78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528816"/>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78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B2A"/>
        </a:solidFill>
        <a:effectLst/>
      </p:bgPr>
    </p:bg>
    <p:spTree>
      <p:nvGrpSpPr>
        <p:cNvPr id="1" name=""/>
        <p:cNvGrpSpPr/>
        <p:nvPr/>
      </p:nvGrpSpPr>
      <p:grpSpPr>
        <a:xfrm>
          <a:off x="0" y="0"/>
          <a:ext cx="1" cy="1"/>
          <a:chOff x="0" y="0"/>
          <a:chExt cx="1" cy="1"/>
        </a:xfrm>
      </p:grpSpPr>
      <p:pic>
        <p:nvPicPr>
          <p:cNvPr id="2" name="Image 0" descr="/mnt/data/0f150f7207.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B2A">
              <a:alpha val="75000"/>
            </a:srgbClr>
          </a:solidFill>
          <a:ln w="12700">
            <a:solidFill>
              <a:srgbClr val="071B2A">
                <a:alpha val="0"/>
              </a:srgbClr>
            </a:solidFill>
            <a:prstDash val="solid"/>
          </a:ln>
        </p:spPr>
      </p:sp>
      <p:sp>
        <p:nvSpPr>
          <p:cNvPr id="4" name="Shape 1"/>
          <p:cNvSpPr/>
          <p:nvPr/>
        </p:nvSpPr>
        <p:spPr>
          <a:xfrm>
            <a:off x="0" y="0"/>
            <a:ext cx="6583680" cy="6858000"/>
          </a:xfrm>
          <a:prstGeom prst="rect">
            <a:avLst/>
          </a:prstGeom>
          <a:solidFill>
            <a:srgbClr val="071B2A">
              <a:alpha val="92000"/>
            </a:srgbClr>
          </a:solidFill>
          <a:ln w="12700">
            <a:solidFill>
              <a:srgbClr val="071B2A">
                <a:alpha val="0"/>
              </a:srgbClr>
            </a:solidFill>
            <a:prstDash val="solid"/>
          </a:ln>
        </p:spPr>
      </p:sp>
      <p:sp>
        <p:nvSpPr>
          <p:cNvPr id="5" name="Shape 2"/>
          <p:cNvSpPr/>
          <p:nvPr/>
        </p:nvSpPr>
        <p:spPr>
          <a:xfrm>
            <a:off x="658368" y="658368"/>
            <a:ext cx="1143000" cy="310896"/>
          </a:xfrm>
          <a:prstGeom prst="roundRect">
            <a:avLst>
              <a:gd name="adj" fmla="val 29412"/>
            </a:avLst>
          </a:prstGeom>
          <a:solidFill>
            <a:srgbClr val="00A6B2"/>
          </a:solidFill>
          <a:ln w="12700">
            <a:solidFill>
              <a:srgbClr val="00A6B2"/>
            </a:solidFill>
            <a:prstDash val="solid"/>
          </a:ln>
          <a:effectLst>
            <a:outerShdw blurRad="25400" dist="12700" dir="2700000" algn="bl" rotWithShape="0">
              <a:srgbClr val="000000">
                <a:alpha val="16000"/>
              </a:srgbClr>
            </a:outerShdw>
          </a:effectLst>
        </p:spPr>
      </p:sp>
      <p:sp>
        <p:nvSpPr>
          <p:cNvPr id="6" name="Text 3"/>
          <p:cNvSpPr/>
          <p:nvPr/>
        </p:nvSpPr>
        <p:spPr>
          <a:xfrm>
            <a:off x="731520" y="708660"/>
            <a:ext cx="996696" cy="164592"/>
          </a:xfrm>
          <a:prstGeom prst="rect">
            <a:avLst/>
          </a:prstGeom>
          <a:noFill/>
          <a:ln/>
        </p:spPr>
        <p:txBody>
          <a:bodyPr wrap="square" lIns="0" tIns="0" rIns="0" bIns="0" rtlCol="0" anchor="ctr"/>
          <a:lstStyle/>
          <a:p>
            <a:pPr marL="0" indent="0" algn="ctr">
              <a:buNone/>
            </a:pPr>
            <a:r>
              <a:rPr lang="en-US" sz="1000" b="1" dirty="0">
                <a:solidFill>
                  <a:srgbClr val="FFFFFF"/>
                </a:solidFill>
              </a:rPr>
              <a:t>CAS D</a:t>
            </a:r>
            <a:endParaRPr lang="en-US" sz="1000" dirty="0"/>
          </a:p>
        </p:txBody>
      </p:sp>
      <p:sp>
        <p:nvSpPr>
          <p:cNvPr id="7" name="Text 4"/>
          <p:cNvSpPr/>
          <p:nvPr/>
        </p:nvSpPr>
        <p:spPr>
          <a:xfrm>
            <a:off x="658368" y="1417320"/>
            <a:ext cx="5715000" cy="2057400"/>
          </a:xfrm>
          <a:prstGeom prst="rect">
            <a:avLst/>
          </a:prstGeom>
          <a:noFill/>
          <a:ln/>
        </p:spPr>
        <p:txBody>
          <a:bodyPr wrap="square" lIns="0" tIns="0" rIns="0" bIns="0" rtlCol="0" anchor="ct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Galvaplus :</a:t>
            </a:r>
            <a:endParaRPr lang="en-US" sz="3100" dirty="0"/>
          </a:p>
          <a:p>
            <a:pPr marL="0" indent="0">
              <a:buNone/>
            </a:pPr>
            <a:r>
              <a:rPr lang="en-US" sz="3100" b="1" dirty="0">
                <a:solidFill>
                  <a:srgbClr val="FFFFFF"/>
                </a:solidFill>
                <a:latin typeface="Aptos Display" pitchFamily="34" charset="0"/>
                <a:ea typeface="Aptos Display" pitchFamily="34" charset="-122"/>
                <a:cs typeface="Aptos Display" pitchFamily="34" charset="-120"/>
              </a:rPr>
              <a:t>de la supervision réactive</a:t>
            </a:r>
            <a:endParaRPr lang="en-US" sz="3100" dirty="0"/>
          </a:p>
          <a:p>
            <a:pPr marL="0" indent="0">
              <a:buNone/>
            </a:pPr>
            <a:r>
              <a:rPr lang="en-US" sz="3100" b="1" dirty="0">
                <a:solidFill>
                  <a:srgbClr val="FFFFFF"/>
                </a:solidFill>
                <a:latin typeface="Aptos Display" pitchFamily="34" charset="0"/>
                <a:ea typeface="Aptos Display" pitchFamily="34" charset="-122"/>
                <a:cs typeface="Aptos Display" pitchFamily="34" charset="-120"/>
              </a:rPr>
              <a:t>à la maintenance prédictive</a:t>
            </a:r>
            <a:endParaRPr lang="en-US" sz="3100" dirty="0"/>
          </a:p>
        </p:txBody>
      </p:sp>
      <p:sp>
        <p:nvSpPr>
          <p:cNvPr id="8" name="Text 5"/>
          <p:cNvSpPr/>
          <p:nvPr/>
        </p:nvSpPr>
        <p:spPr>
          <a:xfrm>
            <a:off x="685800" y="3749040"/>
            <a:ext cx="5440680" cy="713232"/>
          </a:xfrm>
          <a:prstGeom prst="rect">
            <a:avLst/>
          </a:prstGeom>
          <a:noFill/>
          <a:ln/>
        </p:spPr>
        <p:txBody>
          <a:bodyPr wrap="square" lIns="0" tIns="0" rIns="0" bIns="0" rtlCol="0" anchor="ctr"/>
          <a:lstStyle/>
          <a:p>
            <a:pPr marL="0" indent="0">
              <a:buNone/>
            </a:pPr>
            <a:r>
              <a:rPr lang="en-US" sz="1500" dirty="0">
                <a:solidFill>
                  <a:srgbClr val="E7F7F8"/>
                </a:solidFill>
              </a:rPr>
              <a:t>Cadrage d’une solution IA sobre pour anticiper les pannes des bains de galvanisation</a:t>
            </a:r>
            <a:endParaRPr lang="en-US" sz="1500" dirty="0"/>
          </a:p>
        </p:txBody>
      </p:sp>
      <p:sp>
        <p:nvSpPr>
          <p:cNvPr id="9" name="Shape 6"/>
          <p:cNvSpPr/>
          <p:nvPr/>
        </p:nvSpPr>
        <p:spPr>
          <a:xfrm>
            <a:off x="685800" y="4754880"/>
            <a:ext cx="4297680" cy="1"/>
          </a:xfrm>
          <a:prstGeom prst="line">
            <a:avLst/>
          </a:prstGeom>
          <a:noFill/>
          <a:ln w="38100">
            <a:solidFill>
              <a:srgbClr val="F6A623"/>
            </a:solidFill>
            <a:prstDash val="solid"/>
          </a:ln>
        </p:spPr>
      </p:sp>
      <p:sp>
        <p:nvSpPr>
          <p:cNvPr id="10" name="Text 7"/>
          <p:cNvSpPr/>
          <p:nvPr/>
        </p:nvSpPr>
        <p:spPr>
          <a:xfrm>
            <a:off x="685800" y="4956048"/>
            <a:ext cx="5349240" cy="502920"/>
          </a:xfrm>
          <a:prstGeom prst="rect">
            <a:avLst/>
          </a:prstGeom>
          <a:noFill/>
          <a:ln/>
        </p:spPr>
        <p:txBody>
          <a:bodyPr wrap="square" lIns="0" tIns="0" rIns="0" bIns="0" rtlCol="0" anchor="ctr"/>
          <a:lstStyle/>
          <a:p>
            <a:pPr marL="0" indent="0">
              <a:buNone/>
            </a:pPr>
            <a:r>
              <a:rPr lang="en-US" sz="1500" b="1" dirty="0">
                <a:solidFill>
                  <a:srgbClr val="FFFFFF"/>
                </a:solidFill>
              </a:rPr>
              <a:t>Objectif métier : détecter ≥ 70 % des pannes 48 h avant leur survenue</a:t>
            </a:r>
            <a:endParaRPr lang="en-US" sz="1500" dirty="0"/>
          </a:p>
        </p:txBody>
      </p:sp>
      <p:sp>
        <p:nvSpPr>
          <p:cNvPr id="11" name="Text 8"/>
          <p:cNvSpPr/>
          <p:nvPr/>
        </p:nvSpPr>
        <p:spPr>
          <a:xfrm>
            <a:off x="685800" y="6080760"/>
            <a:ext cx="4754880" cy="274320"/>
          </a:xfrm>
          <a:prstGeom prst="rect">
            <a:avLst/>
          </a:prstGeom>
          <a:noFill/>
          <a:ln/>
        </p:spPr>
        <p:txBody>
          <a:bodyPr wrap="square" lIns="0" tIns="0" rIns="0" bIns="0" rtlCol="0" anchor="ctr"/>
          <a:lstStyle/>
          <a:p>
            <a:pPr marL="0" indent="0">
              <a:buNone/>
            </a:pPr>
            <a:r>
              <a:rPr lang="en-US" sz="1000" dirty="0">
                <a:solidFill>
                  <a:srgbClr val="D9E3EA"/>
                </a:solidFill>
              </a:rPr>
              <a:t>M8-B1 • Cadrage client • Joelle Germanos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66928" y="384048"/>
            <a:ext cx="10881360" cy="475488"/>
          </a:xfrm>
          <a:prstGeom prst="rect">
            <a:avLst/>
          </a:prstGeom>
          <a:noFill/>
          <a:ln/>
        </p:spPr>
        <p:txBody>
          <a:bodyPr wrap="square" lIns="0" tIns="0" rIns="0" bIns="0" rtlCol="0" anchor="ctr"/>
          <a:lstStyle/>
          <a:p>
            <a:pPr marL="0" indent="0">
              <a:buNone/>
            </a:pPr>
            <a:r>
              <a:rPr lang="en-US" sz="2800" b="1" dirty="0">
                <a:solidFill>
                  <a:srgbClr val="0B2437"/>
                </a:solidFill>
                <a:latin typeface="Aptos Display" pitchFamily="34" charset="0"/>
                <a:ea typeface="Aptos Display" pitchFamily="34" charset="-122"/>
                <a:cs typeface="Aptos Display" pitchFamily="34" charset="-120"/>
              </a:rPr>
              <a:t>1. Le besoin métier</a:t>
            </a:r>
            <a:endParaRPr lang="en-US" sz="2800" dirty="0"/>
          </a:p>
        </p:txBody>
      </p:sp>
      <p:sp>
        <p:nvSpPr>
          <p:cNvPr id="3" name="Text 1"/>
          <p:cNvSpPr/>
          <p:nvPr/>
        </p:nvSpPr>
        <p:spPr>
          <a:xfrm>
            <a:off x="594360" y="896112"/>
            <a:ext cx="10652760" cy="320040"/>
          </a:xfrm>
          <a:prstGeom prst="rect">
            <a:avLst/>
          </a:prstGeom>
          <a:noFill/>
          <a:ln/>
        </p:spPr>
        <p:txBody>
          <a:bodyPr wrap="square" lIns="0" tIns="0" rIns="0" bIns="0" rtlCol="0" anchor="ctr"/>
          <a:lstStyle/>
          <a:p>
            <a:pPr marL="0" indent="0">
              <a:buNone/>
            </a:pPr>
            <a:r>
              <a:rPr lang="en-US" sz="1200" dirty="0">
                <a:solidFill>
                  <a:srgbClr val="607383"/>
                </a:solidFill>
              </a:rPr>
              <a:t>Anticiper avant l’alarme, réduire les arrêts non planifiés</a:t>
            </a:r>
            <a:endParaRPr lang="en-US" sz="1200" dirty="0"/>
          </a:p>
        </p:txBody>
      </p:sp>
      <p:sp>
        <p:nvSpPr>
          <p:cNvPr id="4" name="Shape 2"/>
          <p:cNvSpPr/>
          <p:nvPr/>
        </p:nvSpPr>
        <p:spPr>
          <a:xfrm>
            <a:off x="594360" y="1371600"/>
            <a:ext cx="1417320" cy="310896"/>
          </a:xfrm>
          <a:prstGeom prst="roundRect">
            <a:avLst>
              <a:gd name="adj" fmla="val 29412"/>
            </a:avLst>
          </a:prstGeom>
          <a:solidFill>
            <a:srgbClr val="0B2437"/>
          </a:solidFill>
          <a:ln w="12700">
            <a:solidFill>
              <a:srgbClr val="0B2437"/>
            </a:solidFill>
            <a:prstDash val="solid"/>
          </a:ln>
          <a:effectLst/>
        </p:spPr>
      </p:sp>
      <p:sp>
        <p:nvSpPr>
          <p:cNvPr id="5" name="Text 3"/>
          <p:cNvSpPr/>
          <p:nvPr/>
        </p:nvSpPr>
        <p:spPr>
          <a:xfrm>
            <a:off x="667512" y="1421892"/>
            <a:ext cx="1271016" cy="164592"/>
          </a:xfrm>
          <a:prstGeom prst="rect">
            <a:avLst/>
          </a:prstGeom>
          <a:noFill/>
          <a:ln/>
        </p:spPr>
        <p:txBody>
          <a:bodyPr wrap="square" lIns="0" tIns="0" rIns="0" bIns="0" rtlCol="0" anchor="ctr"/>
          <a:lstStyle/>
          <a:p>
            <a:pPr marL="0" indent="0" algn="ctr">
              <a:buNone/>
            </a:pPr>
            <a:r>
              <a:rPr lang="en-US" sz="1000" b="1" dirty="0">
                <a:solidFill>
                  <a:srgbClr val="FFFFFF"/>
                </a:solidFill>
              </a:rPr>
              <a:t>4 BAINS</a:t>
            </a:r>
            <a:endParaRPr lang="en-US" sz="1000" dirty="0"/>
          </a:p>
        </p:txBody>
      </p:sp>
      <p:sp>
        <p:nvSpPr>
          <p:cNvPr id="6" name="Shape 4"/>
          <p:cNvSpPr/>
          <p:nvPr/>
        </p:nvSpPr>
        <p:spPr>
          <a:xfrm>
            <a:off x="2176272" y="1371600"/>
            <a:ext cx="1737360" cy="310896"/>
          </a:xfrm>
          <a:prstGeom prst="roundRect">
            <a:avLst>
              <a:gd name="adj" fmla="val 29412"/>
            </a:avLst>
          </a:prstGeom>
          <a:solidFill>
            <a:srgbClr val="00A6B2"/>
          </a:solidFill>
          <a:ln w="12700">
            <a:solidFill>
              <a:srgbClr val="00A6B2"/>
            </a:solidFill>
            <a:prstDash val="solid"/>
          </a:ln>
          <a:effectLst/>
        </p:spPr>
      </p:sp>
      <p:sp>
        <p:nvSpPr>
          <p:cNvPr id="7" name="Text 5"/>
          <p:cNvSpPr/>
          <p:nvPr/>
        </p:nvSpPr>
        <p:spPr>
          <a:xfrm>
            <a:off x="2249424" y="1421892"/>
            <a:ext cx="1591056" cy="164592"/>
          </a:xfrm>
          <a:prstGeom prst="rect">
            <a:avLst/>
          </a:prstGeom>
          <a:noFill/>
          <a:ln/>
        </p:spPr>
        <p:txBody>
          <a:bodyPr wrap="square" lIns="0" tIns="0" rIns="0" bIns="0" rtlCol="0" anchor="ctr"/>
          <a:lstStyle/>
          <a:p>
            <a:pPr marL="0" indent="0" algn="ctr">
              <a:buNone/>
            </a:pPr>
            <a:r>
              <a:rPr lang="en-US" sz="1000" b="1" dirty="0">
                <a:solidFill>
                  <a:srgbClr val="FFFFFF"/>
                </a:solidFill>
              </a:rPr>
              <a:t>3 × 8</a:t>
            </a:r>
            <a:endParaRPr lang="en-US" sz="1000" dirty="0"/>
          </a:p>
        </p:txBody>
      </p:sp>
      <p:sp>
        <p:nvSpPr>
          <p:cNvPr id="8" name="Shape 6"/>
          <p:cNvSpPr/>
          <p:nvPr/>
        </p:nvSpPr>
        <p:spPr>
          <a:xfrm>
            <a:off x="4087368" y="1371600"/>
            <a:ext cx="2148840" cy="310896"/>
          </a:xfrm>
          <a:prstGeom prst="roundRect">
            <a:avLst>
              <a:gd name="adj" fmla="val 29412"/>
            </a:avLst>
          </a:prstGeom>
          <a:solidFill>
            <a:srgbClr val="F6A623"/>
          </a:solidFill>
          <a:ln w="12700">
            <a:solidFill>
              <a:srgbClr val="F6A623"/>
            </a:solidFill>
            <a:prstDash val="solid"/>
          </a:ln>
          <a:effectLst/>
        </p:spPr>
      </p:sp>
      <p:sp>
        <p:nvSpPr>
          <p:cNvPr id="9" name="Text 7"/>
          <p:cNvSpPr/>
          <p:nvPr/>
        </p:nvSpPr>
        <p:spPr>
          <a:xfrm>
            <a:off x="4160520" y="1421892"/>
            <a:ext cx="2002536" cy="164592"/>
          </a:xfrm>
          <a:prstGeom prst="rect">
            <a:avLst/>
          </a:prstGeom>
          <a:noFill/>
          <a:ln/>
        </p:spPr>
        <p:txBody>
          <a:bodyPr wrap="square" lIns="0" tIns="0" rIns="0" bIns="0" rtlCol="0" anchor="ctr"/>
          <a:lstStyle/>
          <a:p>
            <a:pPr marL="0" indent="0" algn="ctr">
              <a:buNone/>
            </a:pPr>
            <a:r>
              <a:rPr lang="en-US" sz="1000" b="1" dirty="0">
                <a:solidFill>
                  <a:srgbClr val="FFFFFF"/>
                </a:solidFill>
              </a:rPr>
              <a:t>2–3 ARRÊTS / MOIS</a:t>
            </a:r>
            <a:endParaRPr lang="en-US" sz="1000" dirty="0"/>
          </a:p>
        </p:txBody>
      </p:sp>
      <p:sp>
        <p:nvSpPr>
          <p:cNvPr id="10" name="Shape 8"/>
          <p:cNvSpPr/>
          <p:nvPr/>
        </p:nvSpPr>
        <p:spPr>
          <a:xfrm>
            <a:off x="6419088" y="1371600"/>
            <a:ext cx="2148840" cy="310896"/>
          </a:xfrm>
          <a:prstGeom prst="roundRect">
            <a:avLst>
              <a:gd name="adj" fmla="val 29412"/>
            </a:avLst>
          </a:prstGeom>
          <a:solidFill>
            <a:srgbClr val="D64545"/>
          </a:solidFill>
          <a:ln w="12700">
            <a:solidFill>
              <a:srgbClr val="D64545"/>
            </a:solidFill>
            <a:prstDash val="solid"/>
          </a:ln>
          <a:effectLst/>
        </p:spPr>
      </p:sp>
      <p:sp>
        <p:nvSpPr>
          <p:cNvPr id="11" name="Text 9"/>
          <p:cNvSpPr/>
          <p:nvPr/>
        </p:nvSpPr>
        <p:spPr>
          <a:xfrm>
            <a:off x="6492240" y="1421892"/>
            <a:ext cx="2002536" cy="164592"/>
          </a:xfrm>
          <a:prstGeom prst="rect">
            <a:avLst/>
          </a:prstGeom>
          <a:noFill/>
          <a:ln/>
        </p:spPr>
        <p:txBody>
          <a:bodyPr wrap="square" lIns="0" tIns="0" rIns="0" bIns="0" rtlCol="0" anchor="ctr"/>
          <a:lstStyle/>
          <a:p>
            <a:pPr marL="0" indent="0" algn="ctr">
              <a:buNone/>
            </a:pPr>
            <a:r>
              <a:rPr lang="en-US" sz="1000" b="1" dirty="0">
                <a:solidFill>
                  <a:srgbClr val="FFFFFF"/>
                </a:solidFill>
              </a:rPr>
              <a:t>30 k€ / ARRÊT</a:t>
            </a:r>
            <a:endParaRPr lang="en-US" sz="1000" dirty="0"/>
          </a:p>
        </p:txBody>
      </p:sp>
      <p:sp>
        <p:nvSpPr>
          <p:cNvPr id="12" name="Shape 10"/>
          <p:cNvSpPr/>
          <p:nvPr/>
        </p:nvSpPr>
        <p:spPr>
          <a:xfrm>
            <a:off x="621792" y="1965960"/>
            <a:ext cx="5230368" cy="1965960"/>
          </a:xfrm>
          <a:prstGeom prst="roundRect">
            <a:avLst>
              <a:gd name="adj" fmla="val 3721"/>
            </a:avLst>
          </a:prstGeom>
          <a:solidFill>
            <a:srgbClr val="FFFFFF"/>
          </a:solidFill>
          <a:ln w="12700">
            <a:solidFill>
              <a:srgbClr val="D9E3EA"/>
            </a:solidFill>
            <a:prstDash val="solid"/>
          </a:ln>
          <a:effectLst/>
        </p:spPr>
      </p:sp>
      <p:sp>
        <p:nvSpPr>
          <p:cNvPr id="13" name="Shape 11"/>
          <p:cNvSpPr/>
          <p:nvPr/>
        </p:nvSpPr>
        <p:spPr>
          <a:xfrm>
            <a:off x="621792" y="1965960"/>
            <a:ext cx="73152" cy="1965960"/>
          </a:xfrm>
          <a:prstGeom prst="rect">
            <a:avLst/>
          </a:prstGeom>
          <a:solidFill>
            <a:srgbClr val="F6A623"/>
          </a:solidFill>
          <a:ln w="12700">
            <a:solidFill>
              <a:srgbClr val="F6A623"/>
            </a:solidFill>
            <a:prstDash val="solid"/>
          </a:ln>
        </p:spPr>
      </p:sp>
      <p:sp>
        <p:nvSpPr>
          <p:cNvPr id="14" name="Text 12"/>
          <p:cNvSpPr/>
          <p:nvPr/>
        </p:nvSpPr>
        <p:spPr>
          <a:xfrm>
            <a:off x="841248" y="2130552"/>
            <a:ext cx="4864608" cy="274320"/>
          </a:xfrm>
          <a:prstGeom prst="rect">
            <a:avLst/>
          </a:prstGeom>
          <a:noFill/>
          <a:ln/>
        </p:spPr>
        <p:txBody>
          <a:bodyPr wrap="square" lIns="0" tIns="0" rIns="0" bIns="0" rtlCol="0" anchor="ctr"/>
          <a:lstStyle/>
          <a:p>
            <a:pPr marL="0" indent="0">
              <a:buNone/>
            </a:pPr>
            <a:r>
              <a:rPr lang="en-US" sz="1500" b="1" dirty="0">
                <a:solidFill>
                  <a:srgbClr val="0B2437"/>
                </a:solidFill>
              </a:rPr>
              <a:t>Demande exprimée</a:t>
            </a:r>
            <a:endParaRPr lang="en-US" sz="1500" dirty="0"/>
          </a:p>
        </p:txBody>
      </p:sp>
      <p:sp>
        <p:nvSpPr>
          <p:cNvPr id="15" name="Text 13"/>
          <p:cNvSpPr/>
          <p:nvPr/>
        </p:nvSpPr>
        <p:spPr>
          <a:xfrm>
            <a:off x="841248" y="2569464"/>
            <a:ext cx="4864608" cy="1216152"/>
          </a:xfrm>
          <a:prstGeom prst="rect">
            <a:avLst/>
          </a:prstGeom>
          <a:noFill/>
          <a:ln/>
        </p:spPr>
        <p:txBody>
          <a:bodyPr wrap="square" lIns="254" tIns="254" rIns="254" bIns="254" rtlCol="0" anchor="t"/>
          <a:lstStyle/>
          <a:p>
            <a:pPr marL="0" indent="0">
              <a:buNone/>
            </a:pPr>
            <a:r>
              <a:rPr lang="en-US" sz="1150" dirty="0">
                <a:solidFill>
                  <a:srgbClr val="173042"/>
                </a:solidFill>
              </a:rPr>
              <a:t>« Être prévenus 48 heures avant une panne. »</a:t>
            </a:r>
            <a:endParaRPr lang="en-US" sz="1150" dirty="0"/>
          </a:p>
          <a:p>
            <a:pPr marL="0" indent="0">
              <a:buNone/>
            </a:pPr>
            <a:endParaRPr lang="en-US" sz="1150" dirty="0"/>
          </a:p>
          <a:p>
            <a:pPr marL="0" indent="0">
              <a:buNone/>
            </a:pPr>
            <a:r>
              <a:rPr lang="en-US" sz="1150" dirty="0">
                <a:solidFill>
                  <a:srgbClr val="173042"/>
                </a:solidFill>
              </a:rPr>
              <a:t>La supervision actuelle déclenche l’alarme à 470 °C, mais lorsque l’alarme sonne, il est déjà trop tard.</a:t>
            </a:r>
            <a:endParaRPr lang="en-US" sz="1150" dirty="0"/>
          </a:p>
        </p:txBody>
      </p:sp>
      <p:sp>
        <p:nvSpPr>
          <p:cNvPr id="16" name="Shape 14"/>
          <p:cNvSpPr/>
          <p:nvPr/>
        </p:nvSpPr>
        <p:spPr>
          <a:xfrm>
            <a:off x="6108192" y="1965960"/>
            <a:ext cx="5422392" cy="1965960"/>
          </a:xfrm>
          <a:prstGeom prst="roundRect">
            <a:avLst>
              <a:gd name="adj" fmla="val 3721"/>
            </a:avLst>
          </a:prstGeom>
          <a:solidFill>
            <a:srgbClr val="FFFFFF"/>
          </a:solidFill>
          <a:ln w="12700">
            <a:solidFill>
              <a:srgbClr val="D9E3EA"/>
            </a:solidFill>
            <a:prstDash val="solid"/>
          </a:ln>
          <a:effectLst/>
        </p:spPr>
      </p:sp>
      <p:sp>
        <p:nvSpPr>
          <p:cNvPr id="17" name="Shape 15"/>
          <p:cNvSpPr/>
          <p:nvPr/>
        </p:nvSpPr>
        <p:spPr>
          <a:xfrm>
            <a:off x="6108192" y="1965960"/>
            <a:ext cx="73152" cy="1965960"/>
          </a:xfrm>
          <a:prstGeom prst="rect">
            <a:avLst/>
          </a:prstGeom>
          <a:solidFill>
            <a:srgbClr val="00A6B2"/>
          </a:solidFill>
          <a:ln w="12700">
            <a:solidFill>
              <a:srgbClr val="00A6B2"/>
            </a:solidFill>
            <a:prstDash val="solid"/>
          </a:ln>
        </p:spPr>
      </p:sp>
      <p:sp>
        <p:nvSpPr>
          <p:cNvPr id="18" name="Text 16"/>
          <p:cNvSpPr/>
          <p:nvPr/>
        </p:nvSpPr>
        <p:spPr>
          <a:xfrm>
            <a:off x="6327648" y="2130552"/>
            <a:ext cx="5056632" cy="274320"/>
          </a:xfrm>
          <a:prstGeom prst="rect">
            <a:avLst/>
          </a:prstGeom>
          <a:noFill/>
          <a:ln/>
        </p:spPr>
        <p:txBody>
          <a:bodyPr wrap="square" lIns="0" tIns="0" rIns="0" bIns="0" rtlCol="0" anchor="ctr"/>
          <a:lstStyle/>
          <a:p>
            <a:pPr marL="0" indent="0">
              <a:buNone/>
            </a:pPr>
            <a:r>
              <a:rPr lang="en-US" sz="1500" b="1" dirty="0">
                <a:solidFill>
                  <a:srgbClr val="0B2437"/>
                </a:solidFill>
              </a:rPr>
              <a:t>Besoin réel reformulé</a:t>
            </a:r>
            <a:endParaRPr lang="en-US" sz="1500" dirty="0"/>
          </a:p>
        </p:txBody>
      </p:sp>
      <p:sp>
        <p:nvSpPr>
          <p:cNvPr id="19" name="Text 17"/>
          <p:cNvSpPr/>
          <p:nvPr/>
        </p:nvSpPr>
        <p:spPr>
          <a:xfrm>
            <a:off x="6327648" y="2569464"/>
            <a:ext cx="5056632" cy="1216152"/>
          </a:xfrm>
          <a:prstGeom prst="rect">
            <a:avLst/>
          </a:prstGeom>
          <a:noFill/>
          <a:ln/>
        </p:spPr>
        <p:txBody>
          <a:bodyPr wrap="square" lIns="254" tIns="254" rIns="254" bIns="254" rtlCol="0" anchor="t"/>
          <a:lstStyle/>
          <a:p>
            <a:pPr marL="0" indent="0">
              <a:buNone/>
            </a:pPr>
            <a:r>
              <a:rPr lang="en-US" sz="1150" dirty="0">
                <a:solidFill>
                  <a:srgbClr val="173042"/>
                </a:solidFill>
              </a:rPr>
              <a:t>Réduire les arrêts non planifiés en détectant assez tôt les dérives annonciatrices de panne pour permettre une intervention préventive, sans remplacer la vigilance terrain.</a:t>
            </a:r>
            <a:endParaRPr lang="en-US" sz="1150" dirty="0"/>
          </a:p>
        </p:txBody>
      </p:sp>
      <p:sp>
        <p:nvSpPr>
          <p:cNvPr id="20" name="Shape 18"/>
          <p:cNvSpPr/>
          <p:nvPr/>
        </p:nvSpPr>
        <p:spPr>
          <a:xfrm>
            <a:off x="621792" y="4343400"/>
            <a:ext cx="10908792" cy="1325880"/>
          </a:xfrm>
          <a:prstGeom prst="roundRect">
            <a:avLst>
              <a:gd name="adj" fmla="val 5517"/>
            </a:avLst>
          </a:prstGeom>
          <a:solidFill>
            <a:srgbClr val="FFF4E8"/>
          </a:solidFill>
          <a:ln w="12700">
            <a:solidFill>
              <a:srgbClr val="F5C27B"/>
            </a:solidFill>
            <a:prstDash val="solid"/>
          </a:ln>
        </p:spPr>
      </p:sp>
      <p:sp>
        <p:nvSpPr>
          <p:cNvPr id="21" name="Text 19"/>
          <p:cNvSpPr/>
          <p:nvPr/>
        </p:nvSpPr>
        <p:spPr>
          <a:xfrm>
            <a:off x="868680" y="4572000"/>
            <a:ext cx="1691640" cy="246888"/>
          </a:xfrm>
          <a:prstGeom prst="rect">
            <a:avLst/>
          </a:prstGeom>
          <a:noFill/>
          <a:ln/>
        </p:spPr>
        <p:txBody>
          <a:bodyPr wrap="square" lIns="0" tIns="0" rIns="0" bIns="0" rtlCol="0" anchor="ctr"/>
          <a:lstStyle/>
          <a:p>
            <a:pPr marL="0" indent="0">
              <a:buNone/>
            </a:pPr>
            <a:r>
              <a:rPr lang="en-US" sz="1300" b="1" dirty="0">
                <a:solidFill>
                  <a:srgbClr val="9A5C00"/>
                </a:solidFill>
              </a:rPr>
              <a:t>IMPRÉVU DE 14H30</a:t>
            </a:r>
            <a:endParaRPr lang="en-US" sz="1300" dirty="0"/>
          </a:p>
        </p:txBody>
      </p:sp>
      <p:sp>
        <p:nvSpPr>
          <p:cNvPr id="22" name="Text 20"/>
          <p:cNvSpPr/>
          <p:nvPr/>
        </p:nvSpPr>
        <p:spPr>
          <a:xfrm>
            <a:off x="2880360" y="4480560"/>
            <a:ext cx="8183880" cy="685800"/>
          </a:xfrm>
          <a:prstGeom prst="rect">
            <a:avLst/>
          </a:prstGeom>
          <a:noFill/>
          <a:ln/>
        </p:spPr>
        <p:txBody>
          <a:bodyPr wrap="square" lIns="254" tIns="254" rIns="254" bIns="254" rtlCol="0" anchor="ctr"/>
          <a:lstStyle/>
          <a:p>
            <a:pPr marL="0" indent="0">
              <a:buNone/>
            </a:pPr>
            <a:r>
              <a:rPr lang="en-US" sz="1300" dirty="0">
                <a:solidFill>
                  <a:srgbClr val="173042"/>
                </a:solidFill>
              </a:rPr>
              <a:t>La direction demande d’étudier un arrêt automatique la nuit lorsque l’alerte est « sûre à plus de 90 % ». Cette évolution transforme une aide à la décision en action potentielle sur le procédé industriel.</a:t>
            </a:r>
            <a:endParaRPr lang="en-US" sz="1300" dirty="0"/>
          </a:p>
        </p:txBody>
      </p:sp>
      <p:sp>
        <p:nvSpPr>
          <p:cNvPr id="25" name="Slide Number Placeholder 0"/>
          <p:cNvSpPr>
            <a:spLocks noGrp="1"/>
          </p:cNvSpPr>
          <p:nvPr>
            <p:ph type="sldNum" sz="quarter" idx="4294967295"/>
          </p:nvPr>
        </p:nvSpPr>
        <p:spPr>
          <a:xfrm>
            <a:off x="11722608" y="6528816"/>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78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66928" y="384048"/>
            <a:ext cx="10881360" cy="475488"/>
          </a:xfrm>
          <a:prstGeom prst="rect">
            <a:avLst/>
          </a:prstGeom>
          <a:noFill/>
          <a:ln/>
        </p:spPr>
        <p:txBody>
          <a:bodyPr wrap="square" lIns="0" tIns="0" rIns="0" bIns="0" rtlCol="0" anchor="ctr"/>
          <a:lstStyle/>
          <a:p>
            <a:pPr marL="0" indent="0">
              <a:buNone/>
            </a:pPr>
            <a:r>
              <a:rPr lang="en-US" sz="2800" b="1" dirty="0">
                <a:solidFill>
                  <a:srgbClr val="0B2437"/>
                </a:solidFill>
                <a:latin typeface="Aptos Display" pitchFamily="34" charset="0"/>
                <a:ea typeface="Aptos Display" pitchFamily="34" charset="-122"/>
                <a:cs typeface="Aptos Display" pitchFamily="34" charset="-120"/>
              </a:rPr>
              <a:t>2. Ce que l’on sait des données</a:t>
            </a:r>
            <a:endParaRPr lang="en-US" sz="2800" dirty="0"/>
          </a:p>
        </p:txBody>
      </p:sp>
      <p:sp>
        <p:nvSpPr>
          <p:cNvPr id="3" name="Text 1"/>
          <p:cNvSpPr/>
          <p:nvPr/>
        </p:nvSpPr>
        <p:spPr>
          <a:xfrm>
            <a:off x="594360" y="896112"/>
            <a:ext cx="10652760" cy="320040"/>
          </a:xfrm>
          <a:prstGeom prst="rect">
            <a:avLst/>
          </a:prstGeom>
          <a:noFill/>
          <a:ln/>
        </p:spPr>
        <p:txBody>
          <a:bodyPr wrap="square" lIns="0" tIns="0" rIns="0" bIns="0" rtlCol="0" anchor="ctr"/>
          <a:lstStyle/>
          <a:p>
            <a:pPr marL="0" indent="0">
              <a:buNone/>
            </a:pPr>
            <a:r>
              <a:rPr lang="en-US" sz="1200" dirty="0">
                <a:solidFill>
                  <a:srgbClr val="607383"/>
                </a:solidFill>
              </a:rPr>
              <a:t>Un socle exploitable, mais encore insuffisant pour prouver la prédictibilité</a:t>
            </a:r>
            <a:endParaRPr lang="en-US" sz="1200" dirty="0"/>
          </a:p>
        </p:txBody>
      </p:sp>
      <p:sp>
        <p:nvSpPr>
          <p:cNvPr id="4" name="Shape 2"/>
          <p:cNvSpPr/>
          <p:nvPr/>
        </p:nvSpPr>
        <p:spPr>
          <a:xfrm>
            <a:off x="640080" y="1353312"/>
            <a:ext cx="2148840" cy="1371600"/>
          </a:xfrm>
          <a:prstGeom prst="roundRect">
            <a:avLst>
              <a:gd name="adj" fmla="val 5333"/>
            </a:avLst>
          </a:prstGeom>
          <a:solidFill>
            <a:srgbClr val="FFFFFF"/>
          </a:solidFill>
          <a:ln w="12700">
            <a:solidFill>
              <a:srgbClr val="D5E0E7"/>
            </a:solidFill>
            <a:prstDash val="solid"/>
          </a:ln>
          <a:effectLst/>
        </p:spPr>
      </p:sp>
      <p:sp>
        <p:nvSpPr>
          <p:cNvPr id="5" name="Text 3"/>
          <p:cNvSpPr/>
          <p:nvPr/>
        </p:nvSpPr>
        <p:spPr>
          <a:xfrm>
            <a:off x="804672" y="1536192"/>
            <a:ext cx="1819656" cy="228600"/>
          </a:xfrm>
          <a:prstGeom prst="rect">
            <a:avLst/>
          </a:prstGeom>
          <a:noFill/>
          <a:ln/>
        </p:spPr>
        <p:txBody>
          <a:bodyPr wrap="square" lIns="0" tIns="0" rIns="0" bIns="0" rtlCol="0" anchor="ctr"/>
          <a:lstStyle/>
          <a:p>
            <a:pPr marL="0" indent="0" algn="ctr">
              <a:buNone/>
            </a:pPr>
            <a:r>
              <a:rPr lang="en-US" sz="1200" b="1" dirty="0">
                <a:solidFill>
                  <a:srgbClr val="00A6B2"/>
                </a:solidFill>
              </a:rPr>
              <a:t>Capteurs</a:t>
            </a:r>
            <a:endParaRPr lang="en-US" sz="1200" dirty="0"/>
          </a:p>
        </p:txBody>
      </p:sp>
      <p:sp>
        <p:nvSpPr>
          <p:cNvPr id="6" name="Text 4"/>
          <p:cNvSpPr/>
          <p:nvPr/>
        </p:nvSpPr>
        <p:spPr>
          <a:xfrm>
            <a:off x="804672" y="1883664"/>
            <a:ext cx="1819656" cy="566928"/>
          </a:xfrm>
          <a:prstGeom prst="rect">
            <a:avLst/>
          </a:prstGeom>
          <a:noFill/>
          <a:ln/>
        </p:spPr>
        <p:txBody>
          <a:bodyPr wrap="square" lIns="0" tIns="0" rIns="0" bIns="0" rtlCol="0" anchor="ctr"/>
          <a:lstStyle/>
          <a:p>
            <a:pPr marL="0" indent="0" algn="ctr">
              <a:buNone/>
            </a:pPr>
            <a:r>
              <a:rPr lang="en-US" sz="1600" b="1" dirty="0">
                <a:solidFill>
                  <a:srgbClr val="0B2437"/>
                </a:solidFill>
              </a:rPr>
              <a:t>Température</a:t>
            </a:r>
            <a:endParaRPr lang="en-US" sz="1600" dirty="0"/>
          </a:p>
          <a:p>
            <a:pPr marL="0" indent="0" algn="ctr">
              <a:buNone/>
            </a:pPr>
            <a:r>
              <a:rPr lang="en-US" sz="1600" b="1" dirty="0">
                <a:solidFill>
                  <a:srgbClr val="0B2437"/>
                </a:solidFill>
              </a:rPr>
              <a:t>pH</a:t>
            </a:r>
            <a:endParaRPr lang="en-US" sz="1600" dirty="0"/>
          </a:p>
          <a:p>
            <a:pPr marL="0" indent="0" algn="ctr">
              <a:buNone/>
            </a:pPr>
            <a:r>
              <a:rPr lang="en-US" sz="1600" b="1" dirty="0">
                <a:solidFill>
                  <a:srgbClr val="0B2437"/>
                </a:solidFill>
              </a:rPr>
              <a:t>Niveau</a:t>
            </a:r>
            <a:endParaRPr lang="en-US" sz="1600" dirty="0"/>
          </a:p>
        </p:txBody>
      </p:sp>
      <p:sp>
        <p:nvSpPr>
          <p:cNvPr id="7" name="Shape 5"/>
          <p:cNvSpPr/>
          <p:nvPr/>
        </p:nvSpPr>
        <p:spPr>
          <a:xfrm>
            <a:off x="3566160" y="1353312"/>
            <a:ext cx="2148840" cy="1371600"/>
          </a:xfrm>
          <a:prstGeom prst="roundRect">
            <a:avLst>
              <a:gd name="adj" fmla="val 5333"/>
            </a:avLst>
          </a:prstGeom>
          <a:solidFill>
            <a:srgbClr val="FFFFFF"/>
          </a:solidFill>
          <a:ln w="12700">
            <a:solidFill>
              <a:srgbClr val="D5E0E7"/>
            </a:solidFill>
            <a:prstDash val="solid"/>
          </a:ln>
          <a:effectLst/>
        </p:spPr>
      </p:sp>
      <p:sp>
        <p:nvSpPr>
          <p:cNvPr id="8" name="Text 6"/>
          <p:cNvSpPr/>
          <p:nvPr/>
        </p:nvSpPr>
        <p:spPr>
          <a:xfrm>
            <a:off x="3730752" y="1536192"/>
            <a:ext cx="1819656" cy="228600"/>
          </a:xfrm>
          <a:prstGeom prst="rect">
            <a:avLst/>
          </a:prstGeom>
          <a:noFill/>
          <a:ln/>
        </p:spPr>
        <p:txBody>
          <a:bodyPr wrap="square" lIns="0" tIns="0" rIns="0" bIns="0" rtlCol="0" anchor="ctr"/>
          <a:lstStyle/>
          <a:p>
            <a:pPr marL="0" indent="0" algn="ctr">
              <a:buNone/>
            </a:pPr>
            <a:r>
              <a:rPr lang="en-US" sz="1200" b="1" dirty="0">
                <a:solidFill>
                  <a:srgbClr val="0B2437"/>
                </a:solidFill>
              </a:rPr>
              <a:t>Historique</a:t>
            </a:r>
            <a:endParaRPr lang="en-US" sz="1200" dirty="0"/>
          </a:p>
        </p:txBody>
      </p:sp>
      <p:sp>
        <p:nvSpPr>
          <p:cNvPr id="9" name="Text 7"/>
          <p:cNvSpPr/>
          <p:nvPr/>
        </p:nvSpPr>
        <p:spPr>
          <a:xfrm>
            <a:off x="3730752" y="1883664"/>
            <a:ext cx="1819656" cy="566928"/>
          </a:xfrm>
          <a:prstGeom prst="rect">
            <a:avLst/>
          </a:prstGeom>
          <a:noFill/>
          <a:ln/>
        </p:spPr>
        <p:txBody>
          <a:bodyPr wrap="square" lIns="0" tIns="0" rIns="0" bIns="0" rtlCol="0" anchor="ctr"/>
          <a:lstStyle/>
          <a:p>
            <a:pPr marL="0" indent="0" algn="ctr">
              <a:buNone/>
            </a:pPr>
            <a:r>
              <a:rPr lang="en-US" sz="1600" b="1" dirty="0">
                <a:solidFill>
                  <a:srgbClr val="0B2437"/>
                </a:solidFill>
              </a:rPr>
              <a:t>2 ans</a:t>
            </a:r>
            <a:endParaRPr lang="en-US" sz="1600" dirty="0"/>
          </a:p>
          <a:p>
            <a:pPr marL="0" indent="0" algn="ctr">
              <a:buNone/>
            </a:pPr>
            <a:r>
              <a:rPr lang="en-US" sz="1600" b="1" dirty="0">
                <a:solidFill>
                  <a:srgbClr val="0B2437"/>
                </a:solidFill>
              </a:rPr>
              <a:t>1 mesure / heure</a:t>
            </a:r>
            <a:endParaRPr lang="en-US" sz="1600" dirty="0"/>
          </a:p>
        </p:txBody>
      </p:sp>
      <p:sp>
        <p:nvSpPr>
          <p:cNvPr id="10" name="Shape 8"/>
          <p:cNvSpPr/>
          <p:nvPr/>
        </p:nvSpPr>
        <p:spPr>
          <a:xfrm>
            <a:off x="6492240" y="1353312"/>
            <a:ext cx="2148840" cy="1371600"/>
          </a:xfrm>
          <a:prstGeom prst="roundRect">
            <a:avLst>
              <a:gd name="adj" fmla="val 5333"/>
            </a:avLst>
          </a:prstGeom>
          <a:solidFill>
            <a:srgbClr val="FFFFFF"/>
          </a:solidFill>
          <a:ln w="12700">
            <a:solidFill>
              <a:srgbClr val="D5E0E7"/>
            </a:solidFill>
            <a:prstDash val="solid"/>
          </a:ln>
          <a:effectLst/>
        </p:spPr>
      </p:sp>
      <p:sp>
        <p:nvSpPr>
          <p:cNvPr id="11" name="Text 9"/>
          <p:cNvSpPr/>
          <p:nvPr/>
        </p:nvSpPr>
        <p:spPr>
          <a:xfrm>
            <a:off x="6656832" y="1536192"/>
            <a:ext cx="1819656" cy="228600"/>
          </a:xfrm>
          <a:prstGeom prst="rect">
            <a:avLst/>
          </a:prstGeom>
          <a:noFill/>
          <a:ln/>
        </p:spPr>
        <p:txBody>
          <a:bodyPr wrap="square" lIns="0" tIns="0" rIns="0" bIns="0" rtlCol="0" anchor="ctr"/>
          <a:lstStyle/>
          <a:p>
            <a:pPr marL="0" indent="0" algn="ctr">
              <a:buNone/>
            </a:pPr>
            <a:r>
              <a:rPr lang="en-US" sz="1200" b="1" dirty="0">
                <a:solidFill>
                  <a:srgbClr val="F6A623"/>
                </a:solidFill>
              </a:rPr>
              <a:t>Pannes</a:t>
            </a:r>
            <a:endParaRPr lang="en-US" sz="1200" dirty="0"/>
          </a:p>
        </p:txBody>
      </p:sp>
      <p:sp>
        <p:nvSpPr>
          <p:cNvPr id="12" name="Text 10"/>
          <p:cNvSpPr/>
          <p:nvPr/>
        </p:nvSpPr>
        <p:spPr>
          <a:xfrm>
            <a:off x="6656832" y="1883664"/>
            <a:ext cx="1819656" cy="566928"/>
          </a:xfrm>
          <a:prstGeom prst="rect">
            <a:avLst/>
          </a:prstGeom>
          <a:noFill/>
          <a:ln/>
        </p:spPr>
        <p:txBody>
          <a:bodyPr wrap="square" lIns="0" tIns="0" rIns="0" bIns="0" rtlCol="0" anchor="ctr"/>
          <a:lstStyle/>
          <a:p>
            <a:pPr marL="0" indent="0" algn="ctr">
              <a:buNone/>
            </a:pPr>
            <a:r>
              <a:rPr lang="en-US" sz="1600" b="1" dirty="0">
                <a:solidFill>
                  <a:srgbClr val="0B2437"/>
                </a:solidFill>
              </a:rPr>
              <a:t>≈ 50 incidents</a:t>
            </a:r>
            <a:endParaRPr lang="en-US" sz="1600" dirty="0"/>
          </a:p>
          <a:p>
            <a:pPr marL="0" indent="0" algn="ctr">
              <a:buNone/>
            </a:pPr>
            <a:r>
              <a:rPr lang="en-US" sz="1600" b="1" dirty="0">
                <a:solidFill>
                  <a:srgbClr val="0B2437"/>
                </a:solidFill>
              </a:rPr>
              <a:t>horodatés</a:t>
            </a:r>
            <a:endParaRPr lang="en-US" sz="1600" dirty="0"/>
          </a:p>
        </p:txBody>
      </p:sp>
      <p:sp>
        <p:nvSpPr>
          <p:cNvPr id="13" name="Shape 11"/>
          <p:cNvSpPr/>
          <p:nvPr/>
        </p:nvSpPr>
        <p:spPr>
          <a:xfrm>
            <a:off x="9418320" y="1353312"/>
            <a:ext cx="2148840" cy="1371600"/>
          </a:xfrm>
          <a:prstGeom prst="roundRect">
            <a:avLst>
              <a:gd name="adj" fmla="val 5333"/>
            </a:avLst>
          </a:prstGeom>
          <a:solidFill>
            <a:srgbClr val="FFFFFF"/>
          </a:solidFill>
          <a:ln w="12700">
            <a:solidFill>
              <a:srgbClr val="D5E0E7"/>
            </a:solidFill>
            <a:prstDash val="solid"/>
          </a:ln>
          <a:effectLst/>
        </p:spPr>
      </p:sp>
      <p:sp>
        <p:nvSpPr>
          <p:cNvPr id="14" name="Text 12"/>
          <p:cNvSpPr/>
          <p:nvPr/>
        </p:nvSpPr>
        <p:spPr>
          <a:xfrm>
            <a:off x="9582912" y="1536192"/>
            <a:ext cx="1819656" cy="228600"/>
          </a:xfrm>
          <a:prstGeom prst="rect">
            <a:avLst/>
          </a:prstGeom>
          <a:noFill/>
          <a:ln/>
        </p:spPr>
        <p:txBody>
          <a:bodyPr wrap="square" lIns="0" tIns="0" rIns="0" bIns="0" rtlCol="0" anchor="ctr"/>
          <a:lstStyle/>
          <a:p>
            <a:pPr marL="0" indent="0" algn="ctr">
              <a:buNone/>
            </a:pPr>
            <a:r>
              <a:rPr lang="en-US" sz="1200" b="1" dirty="0">
                <a:solidFill>
                  <a:srgbClr val="21A366"/>
                </a:solidFill>
              </a:rPr>
              <a:t>Extrait</a:t>
            </a:r>
            <a:endParaRPr lang="en-US" sz="1200" dirty="0"/>
          </a:p>
        </p:txBody>
      </p:sp>
      <p:sp>
        <p:nvSpPr>
          <p:cNvPr id="15" name="Text 13"/>
          <p:cNvSpPr/>
          <p:nvPr/>
        </p:nvSpPr>
        <p:spPr>
          <a:xfrm>
            <a:off x="9582912" y="1883664"/>
            <a:ext cx="1819656" cy="566928"/>
          </a:xfrm>
          <a:prstGeom prst="rect">
            <a:avLst/>
          </a:prstGeom>
          <a:noFill/>
          <a:ln/>
        </p:spPr>
        <p:txBody>
          <a:bodyPr wrap="square" lIns="0" tIns="0" rIns="0" bIns="0" rtlCol="0" anchor="ctr"/>
          <a:lstStyle/>
          <a:p>
            <a:pPr marL="0" indent="0" algn="ctr">
              <a:buNone/>
            </a:pPr>
            <a:r>
              <a:rPr lang="en-US" sz="1600" b="1" dirty="0">
                <a:solidFill>
                  <a:srgbClr val="0B2437"/>
                </a:solidFill>
              </a:rPr>
              <a:t>48 h</a:t>
            </a:r>
            <a:endParaRPr lang="en-US" sz="1600" dirty="0"/>
          </a:p>
          <a:p>
            <a:pPr marL="0" indent="0" algn="ctr">
              <a:buNone/>
            </a:pPr>
            <a:r>
              <a:rPr lang="en-US" sz="1600" b="1" dirty="0">
                <a:solidFill>
                  <a:srgbClr val="0B2437"/>
                </a:solidFill>
              </a:rPr>
              <a:t>1 bain</a:t>
            </a:r>
            <a:endParaRPr lang="en-US" sz="1600" dirty="0"/>
          </a:p>
        </p:txBody>
      </p:sp>
      <p:sp>
        <p:nvSpPr>
          <p:cNvPr id="16" name="Shape 14"/>
          <p:cNvSpPr/>
          <p:nvPr/>
        </p:nvSpPr>
        <p:spPr>
          <a:xfrm>
            <a:off x="640080" y="3090672"/>
            <a:ext cx="5349240" cy="2240280"/>
          </a:xfrm>
          <a:prstGeom prst="roundRect">
            <a:avLst>
              <a:gd name="adj" fmla="val 3265"/>
            </a:avLst>
          </a:prstGeom>
          <a:solidFill>
            <a:srgbClr val="FFFFFF"/>
          </a:solidFill>
          <a:ln w="12700">
            <a:solidFill>
              <a:srgbClr val="D9E3EA"/>
            </a:solidFill>
            <a:prstDash val="solid"/>
          </a:ln>
          <a:effectLst/>
        </p:spPr>
      </p:sp>
      <p:sp>
        <p:nvSpPr>
          <p:cNvPr id="17" name="Shape 15"/>
          <p:cNvSpPr/>
          <p:nvPr/>
        </p:nvSpPr>
        <p:spPr>
          <a:xfrm>
            <a:off x="640080" y="3090672"/>
            <a:ext cx="73152" cy="2240280"/>
          </a:xfrm>
          <a:prstGeom prst="rect">
            <a:avLst/>
          </a:prstGeom>
          <a:solidFill>
            <a:srgbClr val="21A366"/>
          </a:solidFill>
          <a:ln w="12700">
            <a:solidFill>
              <a:srgbClr val="21A366"/>
            </a:solidFill>
            <a:prstDash val="solid"/>
          </a:ln>
        </p:spPr>
      </p:sp>
      <p:sp>
        <p:nvSpPr>
          <p:cNvPr id="18" name="Text 16"/>
          <p:cNvSpPr/>
          <p:nvPr/>
        </p:nvSpPr>
        <p:spPr>
          <a:xfrm>
            <a:off x="859536" y="3255264"/>
            <a:ext cx="4983480" cy="274320"/>
          </a:xfrm>
          <a:prstGeom prst="rect">
            <a:avLst/>
          </a:prstGeom>
          <a:noFill/>
          <a:ln/>
        </p:spPr>
        <p:txBody>
          <a:bodyPr wrap="square" lIns="0" tIns="0" rIns="0" bIns="0" rtlCol="0" anchor="ctr"/>
          <a:lstStyle/>
          <a:p>
            <a:pPr marL="0" indent="0">
              <a:buNone/>
            </a:pPr>
            <a:r>
              <a:rPr lang="en-US" sz="1500" b="1" dirty="0">
                <a:solidFill>
                  <a:srgbClr val="0B2437"/>
                </a:solidFill>
              </a:rPr>
              <a:t>Points favorables</a:t>
            </a:r>
            <a:endParaRPr lang="en-US" sz="1500" dirty="0"/>
          </a:p>
        </p:txBody>
      </p:sp>
      <p:sp>
        <p:nvSpPr>
          <p:cNvPr id="19" name="Text 17"/>
          <p:cNvSpPr/>
          <p:nvPr/>
        </p:nvSpPr>
        <p:spPr>
          <a:xfrm>
            <a:off x="859536" y="3694176"/>
            <a:ext cx="4983480" cy="1490472"/>
          </a:xfrm>
          <a:prstGeom prst="rect">
            <a:avLst/>
          </a:prstGeom>
          <a:noFill/>
          <a:ln/>
        </p:spPr>
        <p:txBody>
          <a:bodyPr wrap="square" lIns="254" tIns="254" rIns="254" bIns="254" rtlCol="0" anchor="t"/>
          <a:lstStyle/>
          <a:p>
            <a:pPr marL="0" indent="0">
              <a:buNone/>
            </a:pPr>
            <a:r>
              <a:rPr lang="en-US" sz="1150" dirty="0">
                <a:solidFill>
                  <a:srgbClr val="173042"/>
                </a:solidFill>
              </a:rPr>
              <a:t>• Données structurées et horodatées</a:t>
            </a:r>
            <a:endParaRPr lang="en-US" sz="1150" dirty="0"/>
          </a:p>
          <a:p>
            <a:pPr marL="0" indent="0">
              <a:buNone/>
            </a:pPr>
            <a:r>
              <a:rPr lang="en-US" sz="1150" dirty="0">
                <a:solidFill>
                  <a:srgbClr val="173042"/>
                </a:solidFill>
              </a:rPr>
              <a:t>• Identifiant du bain présent</a:t>
            </a:r>
            <a:endParaRPr lang="en-US" sz="1150" dirty="0"/>
          </a:p>
          <a:p>
            <a:pPr marL="0" indent="0">
              <a:buNone/>
            </a:pPr>
            <a:r>
              <a:rPr lang="en-US" sz="1150" dirty="0">
                <a:solidFill>
                  <a:srgbClr val="173042"/>
                </a:solidFill>
              </a:rPr>
              <a:t>• Fréquence horaire régulière</a:t>
            </a:r>
            <a:endParaRPr lang="en-US" sz="1150" dirty="0"/>
          </a:p>
          <a:p>
            <a:pPr marL="0" indent="0">
              <a:buNone/>
            </a:pPr>
            <a:r>
              <a:rPr lang="en-US" sz="1150" dirty="0">
                <a:solidFill>
                  <a:srgbClr val="173042"/>
                </a:solidFill>
              </a:rPr>
              <a:t>• Pas de valeur manquante visible dans l’extrait</a:t>
            </a:r>
            <a:endParaRPr lang="en-US" sz="1150" dirty="0"/>
          </a:p>
        </p:txBody>
      </p:sp>
      <p:sp>
        <p:nvSpPr>
          <p:cNvPr id="20" name="Shape 18"/>
          <p:cNvSpPr/>
          <p:nvPr/>
        </p:nvSpPr>
        <p:spPr>
          <a:xfrm>
            <a:off x="6236208" y="3090672"/>
            <a:ext cx="5321808" cy="2240280"/>
          </a:xfrm>
          <a:prstGeom prst="roundRect">
            <a:avLst>
              <a:gd name="adj" fmla="val 3265"/>
            </a:avLst>
          </a:prstGeom>
          <a:solidFill>
            <a:srgbClr val="FFFFFF"/>
          </a:solidFill>
          <a:ln w="12700">
            <a:solidFill>
              <a:srgbClr val="D9E3EA"/>
            </a:solidFill>
            <a:prstDash val="solid"/>
          </a:ln>
          <a:effectLst/>
        </p:spPr>
      </p:sp>
      <p:sp>
        <p:nvSpPr>
          <p:cNvPr id="21" name="Shape 19"/>
          <p:cNvSpPr/>
          <p:nvPr/>
        </p:nvSpPr>
        <p:spPr>
          <a:xfrm>
            <a:off x="6236208" y="3090672"/>
            <a:ext cx="73152" cy="2240280"/>
          </a:xfrm>
          <a:prstGeom prst="rect">
            <a:avLst/>
          </a:prstGeom>
          <a:solidFill>
            <a:srgbClr val="D64545"/>
          </a:solidFill>
          <a:ln w="12700">
            <a:solidFill>
              <a:srgbClr val="D64545"/>
            </a:solidFill>
            <a:prstDash val="solid"/>
          </a:ln>
        </p:spPr>
      </p:sp>
      <p:sp>
        <p:nvSpPr>
          <p:cNvPr id="22" name="Text 20"/>
          <p:cNvSpPr/>
          <p:nvPr/>
        </p:nvSpPr>
        <p:spPr>
          <a:xfrm>
            <a:off x="6455664" y="3255264"/>
            <a:ext cx="4956048" cy="274320"/>
          </a:xfrm>
          <a:prstGeom prst="rect">
            <a:avLst/>
          </a:prstGeom>
          <a:noFill/>
          <a:ln/>
        </p:spPr>
        <p:txBody>
          <a:bodyPr wrap="square" lIns="0" tIns="0" rIns="0" bIns="0" rtlCol="0" anchor="ctr"/>
          <a:lstStyle/>
          <a:p>
            <a:pPr marL="0" indent="0">
              <a:buNone/>
            </a:pPr>
            <a:r>
              <a:rPr lang="en-US" sz="1500" b="1" dirty="0">
                <a:solidFill>
                  <a:srgbClr val="0B2437"/>
                </a:solidFill>
              </a:rPr>
              <a:t>Limites et incertitudes</a:t>
            </a:r>
            <a:endParaRPr lang="en-US" sz="1500" dirty="0"/>
          </a:p>
        </p:txBody>
      </p:sp>
      <p:sp>
        <p:nvSpPr>
          <p:cNvPr id="23" name="Text 21"/>
          <p:cNvSpPr/>
          <p:nvPr/>
        </p:nvSpPr>
        <p:spPr>
          <a:xfrm>
            <a:off x="6455664" y="3694176"/>
            <a:ext cx="4956048" cy="1490472"/>
          </a:xfrm>
          <a:prstGeom prst="rect">
            <a:avLst/>
          </a:prstGeom>
          <a:noFill/>
          <a:ln/>
        </p:spPr>
        <p:txBody>
          <a:bodyPr wrap="square" lIns="254" tIns="254" rIns="254" bIns="254" rtlCol="0" anchor="t"/>
          <a:lstStyle/>
          <a:p>
            <a:pPr marL="0" indent="0">
              <a:buNone/>
            </a:pPr>
            <a:r>
              <a:rPr lang="en-US" sz="1150" dirty="0">
                <a:solidFill>
                  <a:srgbClr val="173042"/>
                </a:solidFill>
              </a:rPr>
              <a:t>• Faible nombre de pannes</a:t>
            </a:r>
            <a:endParaRPr lang="en-US" sz="1150" dirty="0"/>
          </a:p>
          <a:p>
            <a:pPr marL="0" indent="0">
              <a:buNone/>
            </a:pPr>
            <a:r>
              <a:rPr lang="en-US" sz="1150" dirty="0">
                <a:solidFill>
                  <a:srgbClr val="173042"/>
                </a:solidFill>
              </a:rPr>
              <a:t>• Causes saisies librement, parfois imprécises</a:t>
            </a:r>
            <a:endParaRPr lang="en-US" sz="1150" dirty="0"/>
          </a:p>
          <a:p>
            <a:pPr marL="0" indent="0">
              <a:buNone/>
            </a:pPr>
            <a:r>
              <a:rPr lang="en-US" sz="1150" dirty="0">
                <a:solidFill>
                  <a:srgbClr val="173042"/>
                </a:solidFill>
              </a:rPr>
              <a:t>• Extrait sans panne étiquetée</a:t>
            </a:r>
            <a:endParaRPr lang="en-US" sz="1150" dirty="0"/>
          </a:p>
          <a:p>
            <a:pPr marL="0" indent="0">
              <a:buNone/>
            </a:pPr>
            <a:r>
              <a:rPr lang="en-US" sz="1150" dirty="0">
                <a:solidFill>
                  <a:srgbClr val="173042"/>
                </a:solidFill>
              </a:rPr>
              <a:t>• Une dérive observée n’est pas une preuve de précurseur</a:t>
            </a:r>
            <a:endParaRPr lang="en-US" sz="1150" dirty="0"/>
          </a:p>
        </p:txBody>
      </p:sp>
      <p:sp>
        <p:nvSpPr>
          <p:cNvPr id="24" name="Text 22"/>
          <p:cNvSpPr/>
          <p:nvPr/>
        </p:nvSpPr>
        <p:spPr>
          <a:xfrm>
            <a:off x="685800" y="5687568"/>
            <a:ext cx="10789920" cy="384048"/>
          </a:xfrm>
          <a:prstGeom prst="rect">
            <a:avLst/>
          </a:prstGeom>
          <a:noFill/>
          <a:ln/>
        </p:spPr>
        <p:txBody>
          <a:bodyPr wrap="square" lIns="0" tIns="0" rIns="0" bIns="0" rtlCol="0" anchor="ctr"/>
          <a:lstStyle/>
          <a:p>
            <a:pPr marL="0" indent="0" algn="ctr">
              <a:buNone/>
            </a:pPr>
            <a:r>
              <a:rPr lang="en-US" sz="1400" b="1" dirty="0">
                <a:solidFill>
                  <a:srgbClr val="0B2437"/>
                </a:solidFill>
              </a:rPr>
              <a:t>Conclusion data : auditer les horodatages, normaliser les causes et relier chaque panne aux 48 h de mesures précédentes.</a:t>
            </a:r>
            <a:endParaRPr lang="en-US" sz="1400" dirty="0"/>
          </a:p>
        </p:txBody>
      </p:sp>
      <p:sp>
        <p:nvSpPr>
          <p:cNvPr id="25" name="Slide Number Placeholder 0"/>
          <p:cNvSpPr>
            <a:spLocks noGrp="1"/>
          </p:cNvSpPr>
          <p:nvPr>
            <p:ph type="sldNum" sz="quarter" idx="4294967295"/>
          </p:nvPr>
        </p:nvSpPr>
        <p:spPr>
          <a:xfrm>
            <a:off x="11722608" y="6528816"/>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78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66928" y="384048"/>
            <a:ext cx="10881360" cy="475488"/>
          </a:xfrm>
          <a:prstGeom prst="rect">
            <a:avLst/>
          </a:prstGeom>
          <a:noFill/>
          <a:ln/>
        </p:spPr>
        <p:txBody>
          <a:bodyPr wrap="square" lIns="0" tIns="0" rIns="0" bIns="0" rtlCol="0" anchor="ctr"/>
          <a:lstStyle/>
          <a:p>
            <a:pPr marL="0" indent="0">
              <a:buNone/>
            </a:pPr>
            <a:r>
              <a:rPr lang="en-US" sz="2800" b="1" dirty="0">
                <a:solidFill>
                  <a:srgbClr val="0B2437"/>
                </a:solidFill>
                <a:latin typeface="Aptos Display" pitchFamily="34" charset="0"/>
                <a:ea typeface="Aptos Display" pitchFamily="34" charset="-122"/>
                <a:cs typeface="Aptos Display" pitchFamily="34" charset="-120"/>
              </a:rPr>
              <a:t>3. Nos arbitrages</a:t>
            </a:r>
            <a:endParaRPr lang="en-US" sz="2800" dirty="0"/>
          </a:p>
        </p:txBody>
      </p:sp>
      <p:sp>
        <p:nvSpPr>
          <p:cNvPr id="3" name="Text 1"/>
          <p:cNvSpPr/>
          <p:nvPr/>
        </p:nvSpPr>
        <p:spPr>
          <a:xfrm>
            <a:off x="594360" y="896112"/>
            <a:ext cx="10652760" cy="320040"/>
          </a:xfrm>
          <a:prstGeom prst="rect">
            <a:avLst/>
          </a:prstGeom>
          <a:noFill/>
          <a:ln/>
        </p:spPr>
        <p:txBody>
          <a:bodyPr wrap="square" lIns="0" tIns="0" rIns="0" bIns="0" rtlCol="0" anchor="ctr"/>
          <a:lstStyle/>
          <a:p>
            <a:pPr marL="0" indent="0">
              <a:buNone/>
            </a:pPr>
            <a:r>
              <a:rPr lang="en-US" sz="1200" dirty="0">
                <a:solidFill>
                  <a:srgbClr val="607383"/>
                </a:solidFill>
              </a:rPr>
              <a:t>Commencer simple, comparer, n’ajouter de complexité que si elle crée de la valeur</a:t>
            </a:r>
            <a:endParaRPr lang="en-US" sz="1200" dirty="0"/>
          </a:p>
        </p:txBody>
      </p:sp>
      <p:sp>
        <p:nvSpPr>
          <p:cNvPr id="4" name="Shape 2"/>
          <p:cNvSpPr/>
          <p:nvPr/>
        </p:nvSpPr>
        <p:spPr>
          <a:xfrm>
            <a:off x="594360" y="1417320"/>
            <a:ext cx="3429000" cy="3520440"/>
          </a:xfrm>
          <a:prstGeom prst="roundRect">
            <a:avLst>
              <a:gd name="adj" fmla="val 2133"/>
            </a:avLst>
          </a:prstGeom>
          <a:solidFill>
            <a:srgbClr val="FFFFFF"/>
          </a:solidFill>
          <a:ln w="12700">
            <a:solidFill>
              <a:srgbClr val="D9E3EA"/>
            </a:solidFill>
            <a:prstDash val="solid"/>
          </a:ln>
          <a:effectLst/>
        </p:spPr>
      </p:sp>
      <p:sp>
        <p:nvSpPr>
          <p:cNvPr id="5" name="Shape 3"/>
          <p:cNvSpPr/>
          <p:nvPr/>
        </p:nvSpPr>
        <p:spPr>
          <a:xfrm>
            <a:off x="594360" y="1417320"/>
            <a:ext cx="73152" cy="3520440"/>
          </a:xfrm>
          <a:prstGeom prst="rect">
            <a:avLst/>
          </a:prstGeom>
          <a:solidFill>
            <a:srgbClr val="21A366"/>
          </a:solidFill>
          <a:ln w="12700">
            <a:solidFill>
              <a:srgbClr val="21A366"/>
            </a:solidFill>
            <a:prstDash val="solid"/>
          </a:ln>
        </p:spPr>
      </p:sp>
      <p:sp>
        <p:nvSpPr>
          <p:cNvPr id="6" name="Text 4"/>
          <p:cNvSpPr/>
          <p:nvPr/>
        </p:nvSpPr>
        <p:spPr>
          <a:xfrm>
            <a:off x="813816" y="1581912"/>
            <a:ext cx="3063240" cy="274320"/>
          </a:xfrm>
          <a:prstGeom prst="rect">
            <a:avLst/>
          </a:prstGeom>
          <a:noFill/>
          <a:ln/>
        </p:spPr>
        <p:txBody>
          <a:bodyPr wrap="square" lIns="0" tIns="0" rIns="0" bIns="0" rtlCol="0" anchor="ctr"/>
          <a:lstStyle/>
          <a:p>
            <a:pPr marL="0" indent="0">
              <a:buNone/>
            </a:pPr>
            <a:r>
              <a:rPr lang="en-US" sz="1500" b="1" dirty="0">
                <a:solidFill>
                  <a:srgbClr val="0B2437"/>
                </a:solidFill>
              </a:rPr>
              <a:t>1. Référence simple</a:t>
            </a:r>
            <a:endParaRPr lang="en-US" sz="1500" dirty="0"/>
          </a:p>
        </p:txBody>
      </p:sp>
      <p:sp>
        <p:nvSpPr>
          <p:cNvPr id="7" name="Text 5"/>
          <p:cNvSpPr/>
          <p:nvPr/>
        </p:nvSpPr>
        <p:spPr>
          <a:xfrm>
            <a:off x="813816" y="2020824"/>
            <a:ext cx="3063240" cy="2770632"/>
          </a:xfrm>
          <a:prstGeom prst="rect">
            <a:avLst/>
          </a:prstGeom>
          <a:noFill/>
          <a:ln/>
        </p:spPr>
        <p:txBody>
          <a:bodyPr wrap="square" lIns="254" tIns="254" rIns="254" bIns="254" rtlCol="0" anchor="t"/>
          <a:lstStyle/>
          <a:p>
            <a:pPr marL="0" indent="0">
              <a:buNone/>
            </a:pPr>
            <a:r>
              <a:rPr lang="en-US" sz="1150" dirty="0">
                <a:solidFill>
                  <a:srgbClr val="173042"/>
                </a:solidFill>
              </a:rPr>
              <a:t>Règles métier et tendances temporelles :</a:t>
            </a:r>
            <a:endParaRPr lang="en-US" sz="1150" dirty="0"/>
          </a:p>
          <a:p>
            <a:pPr marL="0" indent="0">
              <a:buNone/>
            </a:pPr>
            <a:endParaRPr lang="en-US" sz="1150" dirty="0"/>
          </a:p>
          <a:p>
            <a:pPr marL="0" indent="0">
              <a:buNone/>
            </a:pPr>
            <a:r>
              <a:rPr lang="en-US" sz="1150" dirty="0">
                <a:solidFill>
                  <a:srgbClr val="173042"/>
                </a:solidFill>
              </a:rPr>
              <a:t>• seuils dynamiques</a:t>
            </a:r>
            <a:endParaRPr lang="en-US" sz="1150" dirty="0"/>
          </a:p>
          <a:p>
            <a:pPr marL="0" indent="0">
              <a:buNone/>
            </a:pPr>
            <a:r>
              <a:rPr lang="en-US" sz="1150" dirty="0">
                <a:solidFill>
                  <a:srgbClr val="173042"/>
                </a:solidFill>
              </a:rPr>
              <a:t>• pente de température</a:t>
            </a:r>
            <a:endParaRPr lang="en-US" sz="1150" dirty="0"/>
          </a:p>
          <a:p>
            <a:pPr marL="0" indent="0">
              <a:buNone/>
            </a:pPr>
            <a:r>
              <a:rPr lang="en-US" sz="1150" dirty="0">
                <a:solidFill>
                  <a:srgbClr val="173042"/>
                </a:solidFill>
              </a:rPr>
              <a:t>• évolution du niveau</a:t>
            </a:r>
            <a:endParaRPr lang="en-US" sz="1150" dirty="0"/>
          </a:p>
          <a:p>
            <a:pPr marL="0" indent="0">
              <a:buNone/>
            </a:pPr>
            <a:r>
              <a:rPr lang="en-US" sz="1150" dirty="0">
                <a:solidFill>
                  <a:srgbClr val="173042"/>
                </a:solidFill>
              </a:rPr>
              <a:t>• combinaison de signaux</a:t>
            </a:r>
            <a:endParaRPr lang="en-US" sz="1150" dirty="0"/>
          </a:p>
          <a:p>
            <a:pPr marL="0" indent="0">
              <a:buNone/>
            </a:pPr>
            <a:endParaRPr lang="en-US" sz="1150" dirty="0"/>
          </a:p>
          <a:p>
            <a:pPr marL="0" indent="0">
              <a:buNone/>
            </a:pPr>
            <a:r>
              <a:rPr lang="en-US" sz="1150" dirty="0">
                <a:solidFill>
                  <a:srgbClr val="173042"/>
                </a:solidFill>
              </a:rPr>
              <a:t>Objectif : établir une baseline explicable.</a:t>
            </a:r>
            <a:endParaRPr lang="en-US" sz="1150" dirty="0"/>
          </a:p>
        </p:txBody>
      </p:sp>
      <p:sp>
        <p:nvSpPr>
          <p:cNvPr id="8" name="Shape 6"/>
          <p:cNvSpPr/>
          <p:nvPr/>
        </p:nvSpPr>
        <p:spPr>
          <a:xfrm>
            <a:off x="4370832" y="1417320"/>
            <a:ext cx="3429000" cy="3520440"/>
          </a:xfrm>
          <a:prstGeom prst="roundRect">
            <a:avLst>
              <a:gd name="adj" fmla="val 2133"/>
            </a:avLst>
          </a:prstGeom>
          <a:solidFill>
            <a:srgbClr val="FFFFFF"/>
          </a:solidFill>
          <a:ln w="12700">
            <a:solidFill>
              <a:srgbClr val="D9E3EA"/>
            </a:solidFill>
            <a:prstDash val="solid"/>
          </a:ln>
          <a:effectLst/>
        </p:spPr>
      </p:sp>
      <p:sp>
        <p:nvSpPr>
          <p:cNvPr id="9" name="Shape 7"/>
          <p:cNvSpPr/>
          <p:nvPr/>
        </p:nvSpPr>
        <p:spPr>
          <a:xfrm>
            <a:off x="4370832" y="1417320"/>
            <a:ext cx="73152" cy="3520440"/>
          </a:xfrm>
          <a:prstGeom prst="rect">
            <a:avLst/>
          </a:prstGeom>
          <a:solidFill>
            <a:srgbClr val="00A6B2"/>
          </a:solidFill>
          <a:ln w="12700">
            <a:solidFill>
              <a:srgbClr val="00A6B2"/>
            </a:solidFill>
            <a:prstDash val="solid"/>
          </a:ln>
        </p:spPr>
      </p:sp>
      <p:sp>
        <p:nvSpPr>
          <p:cNvPr id="10" name="Text 8"/>
          <p:cNvSpPr/>
          <p:nvPr/>
        </p:nvSpPr>
        <p:spPr>
          <a:xfrm>
            <a:off x="4590288" y="1581912"/>
            <a:ext cx="3063240" cy="274320"/>
          </a:xfrm>
          <a:prstGeom prst="rect">
            <a:avLst/>
          </a:prstGeom>
          <a:noFill/>
          <a:ln/>
        </p:spPr>
        <p:txBody>
          <a:bodyPr wrap="square" lIns="0" tIns="0" rIns="0" bIns="0" rtlCol="0" anchor="ctr"/>
          <a:lstStyle/>
          <a:p>
            <a:pPr marL="0" indent="0">
              <a:buNone/>
            </a:pPr>
            <a:r>
              <a:rPr lang="en-US" sz="1500" b="1" dirty="0">
                <a:solidFill>
                  <a:srgbClr val="0B2437"/>
                </a:solidFill>
              </a:rPr>
              <a:t>2. ML classique</a:t>
            </a:r>
            <a:endParaRPr lang="en-US" sz="1500" dirty="0"/>
          </a:p>
        </p:txBody>
      </p:sp>
      <p:sp>
        <p:nvSpPr>
          <p:cNvPr id="11" name="Text 9"/>
          <p:cNvSpPr/>
          <p:nvPr/>
        </p:nvSpPr>
        <p:spPr>
          <a:xfrm>
            <a:off x="4590288" y="2020824"/>
            <a:ext cx="3063240" cy="2770632"/>
          </a:xfrm>
          <a:prstGeom prst="rect">
            <a:avLst/>
          </a:prstGeom>
          <a:noFill/>
          <a:ln/>
        </p:spPr>
        <p:txBody>
          <a:bodyPr wrap="square" lIns="254" tIns="254" rIns="254" bIns="254" rtlCol="0" anchor="t"/>
          <a:lstStyle/>
          <a:p>
            <a:pPr marL="0" indent="0">
              <a:buNone/>
            </a:pPr>
            <a:r>
              <a:rPr lang="en-US" sz="1150" dirty="0">
                <a:solidFill>
                  <a:srgbClr val="173042"/>
                </a:solidFill>
              </a:rPr>
              <a:t>Tester un modèle supervisé si les pannes sont reliées de manière fiable :</a:t>
            </a:r>
            <a:endParaRPr lang="en-US" sz="1150" dirty="0"/>
          </a:p>
          <a:p>
            <a:pPr marL="0" indent="0">
              <a:buNone/>
            </a:pPr>
            <a:endParaRPr lang="en-US" sz="1150" dirty="0"/>
          </a:p>
          <a:p>
            <a:pPr marL="0" indent="0">
              <a:buNone/>
            </a:pPr>
            <a:r>
              <a:rPr lang="en-US" sz="1150" dirty="0">
                <a:solidFill>
                  <a:srgbClr val="173042"/>
                </a:solidFill>
              </a:rPr>
              <a:t>• régression logistique</a:t>
            </a:r>
            <a:endParaRPr lang="en-US" sz="1150" dirty="0"/>
          </a:p>
          <a:p>
            <a:pPr marL="0" indent="0">
              <a:buNone/>
            </a:pPr>
            <a:r>
              <a:rPr lang="en-US" sz="1150" dirty="0">
                <a:solidFill>
                  <a:srgbClr val="173042"/>
                </a:solidFill>
              </a:rPr>
              <a:t>• arbre / gradient boosting</a:t>
            </a:r>
            <a:endParaRPr lang="en-US" sz="1150" dirty="0"/>
          </a:p>
          <a:p>
            <a:pPr marL="0" indent="0">
              <a:buNone/>
            </a:pPr>
            <a:r>
              <a:rPr lang="en-US" sz="1150" dirty="0">
                <a:solidFill>
                  <a:srgbClr val="173042"/>
                </a:solidFill>
              </a:rPr>
              <a:t>• score de risque calibré</a:t>
            </a:r>
            <a:endParaRPr lang="en-US" sz="1150" dirty="0"/>
          </a:p>
          <a:p>
            <a:pPr marL="0" indent="0">
              <a:buNone/>
            </a:pPr>
            <a:endParaRPr lang="en-US" sz="1150" dirty="0"/>
          </a:p>
          <a:p>
            <a:pPr marL="0" indent="0">
              <a:buNone/>
            </a:pPr>
            <a:r>
              <a:rPr lang="en-US" sz="1150" dirty="0">
                <a:solidFill>
                  <a:srgbClr val="173042"/>
                </a:solidFill>
              </a:rPr>
              <a:t>Objectif : mesurer le gain vs baseline.</a:t>
            </a:r>
            <a:endParaRPr lang="en-US" sz="1150" dirty="0"/>
          </a:p>
        </p:txBody>
      </p:sp>
      <p:sp>
        <p:nvSpPr>
          <p:cNvPr id="12" name="Shape 10"/>
          <p:cNvSpPr/>
          <p:nvPr/>
        </p:nvSpPr>
        <p:spPr>
          <a:xfrm>
            <a:off x="8138160" y="1417320"/>
            <a:ext cx="3429000" cy="3520440"/>
          </a:xfrm>
          <a:prstGeom prst="roundRect">
            <a:avLst>
              <a:gd name="adj" fmla="val 2133"/>
            </a:avLst>
          </a:prstGeom>
          <a:solidFill>
            <a:srgbClr val="FFFFFF"/>
          </a:solidFill>
          <a:ln w="12700">
            <a:solidFill>
              <a:srgbClr val="D9E3EA"/>
            </a:solidFill>
            <a:prstDash val="solid"/>
          </a:ln>
          <a:effectLst/>
        </p:spPr>
      </p:sp>
      <p:sp>
        <p:nvSpPr>
          <p:cNvPr id="13" name="Shape 11"/>
          <p:cNvSpPr/>
          <p:nvPr/>
        </p:nvSpPr>
        <p:spPr>
          <a:xfrm>
            <a:off x="8138160" y="1417320"/>
            <a:ext cx="73152" cy="3520440"/>
          </a:xfrm>
          <a:prstGeom prst="rect">
            <a:avLst/>
          </a:prstGeom>
          <a:solidFill>
            <a:srgbClr val="D64545"/>
          </a:solidFill>
          <a:ln w="12700">
            <a:solidFill>
              <a:srgbClr val="D64545"/>
            </a:solidFill>
            <a:prstDash val="solid"/>
          </a:ln>
        </p:spPr>
      </p:sp>
      <p:sp>
        <p:nvSpPr>
          <p:cNvPr id="14" name="Text 12"/>
          <p:cNvSpPr/>
          <p:nvPr/>
        </p:nvSpPr>
        <p:spPr>
          <a:xfrm>
            <a:off x="8357616" y="1581912"/>
            <a:ext cx="3063240" cy="274320"/>
          </a:xfrm>
          <a:prstGeom prst="rect">
            <a:avLst/>
          </a:prstGeom>
          <a:noFill/>
          <a:ln/>
        </p:spPr>
        <p:txBody>
          <a:bodyPr wrap="square" lIns="0" tIns="0" rIns="0" bIns="0" rtlCol="0" anchor="ctr"/>
          <a:lstStyle/>
          <a:p>
            <a:pPr marL="0" indent="0">
              <a:buNone/>
            </a:pPr>
            <a:r>
              <a:rPr lang="en-US" sz="1500" b="1" dirty="0">
                <a:solidFill>
                  <a:srgbClr val="0B2437"/>
                </a:solidFill>
              </a:rPr>
              <a:t>3. Écarté à ce stade</a:t>
            </a:r>
            <a:endParaRPr lang="en-US" sz="1500" dirty="0"/>
          </a:p>
        </p:txBody>
      </p:sp>
      <p:sp>
        <p:nvSpPr>
          <p:cNvPr id="15" name="Text 13"/>
          <p:cNvSpPr/>
          <p:nvPr/>
        </p:nvSpPr>
        <p:spPr>
          <a:xfrm>
            <a:off x="8357616" y="2020824"/>
            <a:ext cx="3063240" cy="2770632"/>
          </a:xfrm>
          <a:prstGeom prst="rect">
            <a:avLst/>
          </a:prstGeom>
          <a:noFill/>
          <a:ln/>
        </p:spPr>
        <p:txBody>
          <a:bodyPr wrap="square" lIns="254" tIns="254" rIns="254" bIns="254" rtlCol="0" anchor="t"/>
          <a:lstStyle/>
          <a:p>
            <a:pPr marL="0" indent="0">
              <a:buNone/>
            </a:pPr>
            <a:r>
              <a:rPr lang="en-US" sz="1150" dirty="0">
                <a:solidFill>
                  <a:srgbClr val="173042"/>
                </a:solidFill>
              </a:rPr>
              <a:t>Deep learning, LLM et agent autonome :</a:t>
            </a:r>
            <a:endParaRPr lang="en-US" sz="1150" dirty="0"/>
          </a:p>
          <a:p>
            <a:pPr marL="0" indent="0">
              <a:buNone/>
            </a:pPr>
            <a:endParaRPr lang="en-US" sz="1150" dirty="0"/>
          </a:p>
          <a:p>
            <a:pPr marL="0" indent="0">
              <a:buNone/>
            </a:pPr>
            <a:r>
              <a:rPr lang="en-US" sz="1150" dirty="0">
                <a:solidFill>
                  <a:srgbClr val="173042"/>
                </a:solidFill>
              </a:rPr>
              <a:t>• volume limité</a:t>
            </a:r>
            <a:endParaRPr lang="en-US" sz="1150" dirty="0"/>
          </a:p>
          <a:p>
            <a:pPr marL="0" indent="0">
              <a:buNone/>
            </a:pPr>
            <a:r>
              <a:rPr lang="en-US" sz="1150" dirty="0">
                <a:solidFill>
                  <a:srgbClr val="173042"/>
                </a:solidFill>
              </a:rPr>
              <a:t>• données numériques structurées</a:t>
            </a:r>
            <a:endParaRPr lang="en-US" sz="1150" dirty="0"/>
          </a:p>
          <a:p>
            <a:pPr marL="0" indent="0">
              <a:buNone/>
            </a:pPr>
            <a:r>
              <a:rPr lang="en-US" sz="1150" dirty="0">
                <a:solidFill>
                  <a:srgbClr val="173042"/>
                </a:solidFill>
              </a:rPr>
              <a:t>• explicabilité attendue</a:t>
            </a:r>
            <a:endParaRPr lang="en-US" sz="1150" dirty="0"/>
          </a:p>
          <a:p>
            <a:pPr marL="0" indent="0">
              <a:buNone/>
            </a:pPr>
            <a:r>
              <a:rPr lang="en-US" sz="1150" dirty="0">
                <a:solidFill>
                  <a:srgbClr val="173042"/>
                </a:solidFill>
              </a:rPr>
              <a:t>• complexité opérationnelle inutile</a:t>
            </a:r>
            <a:endParaRPr lang="en-US" sz="1150" dirty="0"/>
          </a:p>
          <a:p>
            <a:pPr marL="0" indent="0">
              <a:buNone/>
            </a:pPr>
            <a:endParaRPr lang="en-US" sz="1150" dirty="0"/>
          </a:p>
          <a:p>
            <a:pPr marL="0" indent="0">
              <a:buNone/>
            </a:pPr>
            <a:r>
              <a:rPr lang="en-US" sz="1150" dirty="0">
                <a:solidFill>
                  <a:srgbClr val="173042"/>
                </a:solidFill>
              </a:rPr>
              <a:t>Aucune valeur démontrée.</a:t>
            </a:r>
            <a:endParaRPr lang="en-US" sz="1150" dirty="0"/>
          </a:p>
        </p:txBody>
      </p:sp>
      <p:sp>
        <p:nvSpPr>
          <p:cNvPr id="16" name="Text 14"/>
          <p:cNvSpPr/>
          <p:nvPr/>
        </p:nvSpPr>
        <p:spPr>
          <a:xfrm>
            <a:off x="658368" y="5321808"/>
            <a:ext cx="2011680" cy="274320"/>
          </a:xfrm>
          <a:prstGeom prst="rect">
            <a:avLst/>
          </a:prstGeom>
          <a:noFill/>
          <a:ln/>
        </p:spPr>
        <p:txBody>
          <a:bodyPr wrap="square" lIns="0" tIns="0" rIns="0" bIns="0" rtlCol="0" anchor="ctr"/>
          <a:lstStyle/>
          <a:p>
            <a:pPr marL="0" indent="0">
              <a:buNone/>
            </a:pPr>
            <a:r>
              <a:rPr lang="en-US" sz="1400" b="1" dirty="0">
                <a:solidFill>
                  <a:srgbClr val="0B2437"/>
                </a:solidFill>
              </a:rPr>
              <a:t>Décision de cadrage</a:t>
            </a:r>
            <a:endParaRPr lang="en-US" sz="1400" dirty="0"/>
          </a:p>
        </p:txBody>
      </p:sp>
      <p:sp>
        <p:nvSpPr>
          <p:cNvPr id="17" name="Shape 15"/>
          <p:cNvSpPr/>
          <p:nvPr/>
        </p:nvSpPr>
        <p:spPr>
          <a:xfrm>
            <a:off x="2395728" y="5458968"/>
            <a:ext cx="7635240" cy="1"/>
          </a:xfrm>
          <a:prstGeom prst="line">
            <a:avLst/>
          </a:prstGeom>
          <a:noFill/>
          <a:ln w="63500">
            <a:solidFill>
              <a:srgbClr val="C9D5DE"/>
            </a:solidFill>
            <a:prstDash val="solid"/>
            <a:headEnd type="none"/>
            <a:tailEnd type="triangle"/>
          </a:ln>
        </p:spPr>
      </p:sp>
      <p:sp>
        <p:nvSpPr>
          <p:cNvPr id="18" name="Shape 16"/>
          <p:cNvSpPr/>
          <p:nvPr/>
        </p:nvSpPr>
        <p:spPr>
          <a:xfrm>
            <a:off x="2761488" y="5257800"/>
            <a:ext cx="1234440" cy="310896"/>
          </a:xfrm>
          <a:prstGeom prst="roundRect">
            <a:avLst>
              <a:gd name="adj" fmla="val 29412"/>
            </a:avLst>
          </a:prstGeom>
          <a:solidFill>
            <a:srgbClr val="21A366"/>
          </a:solidFill>
          <a:ln w="12700">
            <a:solidFill>
              <a:srgbClr val="21A366"/>
            </a:solidFill>
            <a:prstDash val="solid"/>
          </a:ln>
          <a:effectLst/>
        </p:spPr>
      </p:sp>
      <p:sp>
        <p:nvSpPr>
          <p:cNvPr id="19" name="Text 17"/>
          <p:cNvSpPr/>
          <p:nvPr/>
        </p:nvSpPr>
        <p:spPr>
          <a:xfrm>
            <a:off x="2834640" y="5308092"/>
            <a:ext cx="1088136" cy="164592"/>
          </a:xfrm>
          <a:prstGeom prst="rect">
            <a:avLst/>
          </a:prstGeom>
          <a:noFill/>
          <a:ln/>
        </p:spPr>
        <p:txBody>
          <a:bodyPr wrap="square" lIns="0" tIns="0" rIns="0" bIns="0" rtlCol="0" anchor="ctr"/>
          <a:lstStyle/>
          <a:p>
            <a:pPr marL="0" indent="0" algn="ctr">
              <a:buNone/>
            </a:pPr>
            <a:r>
              <a:rPr lang="en-US" sz="1000" b="1" dirty="0">
                <a:solidFill>
                  <a:srgbClr val="FFFFFF"/>
                </a:solidFill>
              </a:rPr>
              <a:t>BASELINE</a:t>
            </a:r>
            <a:endParaRPr lang="en-US" sz="1000" dirty="0"/>
          </a:p>
        </p:txBody>
      </p:sp>
      <p:sp>
        <p:nvSpPr>
          <p:cNvPr id="20" name="Shape 18"/>
          <p:cNvSpPr/>
          <p:nvPr/>
        </p:nvSpPr>
        <p:spPr>
          <a:xfrm>
            <a:off x="5532120" y="5257800"/>
            <a:ext cx="1234440" cy="310896"/>
          </a:xfrm>
          <a:prstGeom prst="roundRect">
            <a:avLst>
              <a:gd name="adj" fmla="val 29412"/>
            </a:avLst>
          </a:prstGeom>
          <a:solidFill>
            <a:srgbClr val="00A6B2"/>
          </a:solidFill>
          <a:ln w="12700">
            <a:solidFill>
              <a:srgbClr val="00A6B2"/>
            </a:solidFill>
            <a:prstDash val="solid"/>
          </a:ln>
          <a:effectLst/>
        </p:spPr>
      </p:sp>
      <p:sp>
        <p:nvSpPr>
          <p:cNvPr id="21" name="Text 19"/>
          <p:cNvSpPr/>
          <p:nvPr/>
        </p:nvSpPr>
        <p:spPr>
          <a:xfrm>
            <a:off x="5605272" y="5308092"/>
            <a:ext cx="1088136" cy="164592"/>
          </a:xfrm>
          <a:prstGeom prst="rect">
            <a:avLst/>
          </a:prstGeom>
          <a:noFill/>
          <a:ln/>
        </p:spPr>
        <p:txBody>
          <a:bodyPr wrap="square" lIns="0" tIns="0" rIns="0" bIns="0" rtlCol="0" anchor="ctr"/>
          <a:lstStyle/>
          <a:p>
            <a:pPr marL="0" indent="0" algn="ctr">
              <a:buNone/>
            </a:pPr>
            <a:r>
              <a:rPr lang="en-US" sz="1000" b="1" dirty="0">
                <a:solidFill>
                  <a:srgbClr val="FFFFFF"/>
                </a:solidFill>
              </a:rPr>
              <a:t>TEST ML</a:t>
            </a:r>
            <a:endParaRPr lang="en-US" sz="1000" dirty="0"/>
          </a:p>
        </p:txBody>
      </p:sp>
      <p:sp>
        <p:nvSpPr>
          <p:cNvPr id="22" name="Shape 20"/>
          <p:cNvSpPr/>
          <p:nvPr/>
        </p:nvSpPr>
        <p:spPr>
          <a:xfrm>
            <a:off x="8394192" y="5257800"/>
            <a:ext cx="1600200" cy="310896"/>
          </a:xfrm>
          <a:prstGeom prst="roundRect">
            <a:avLst>
              <a:gd name="adj" fmla="val 29412"/>
            </a:avLst>
          </a:prstGeom>
          <a:solidFill>
            <a:srgbClr val="0B2437"/>
          </a:solidFill>
          <a:ln w="12700">
            <a:solidFill>
              <a:srgbClr val="0B2437"/>
            </a:solidFill>
            <a:prstDash val="solid"/>
          </a:ln>
          <a:effectLst/>
        </p:spPr>
      </p:sp>
      <p:sp>
        <p:nvSpPr>
          <p:cNvPr id="23" name="Text 21"/>
          <p:cNvSpPr/>
          <p:nvPr/>
        </p:nvSpPr>
        <p:spPr>
          <a:xfrm>
            <a:off x="8467344" y="5308092"/>
            <a:ext cx="1453896" cy="164592"/>
          </a:xfrm>
          <a:prstGeom prst="rect">
            <a:avLst/>
          </a:prstGeom>
          <a:noFill/>
          <a:ln/>
        </p:spPr>
        <p:txBody>
          <a:bodyPr wrap="square" lIns="0" tIns="0" rIns="0" bIns="0" rtlCol="0" anchor="ctr"/>
          <a:lstStyle/>
          <a:p>
            <a:pPr marL="0" indent="0" algn="ctr">
              <a:buNone/>
            </a:pPr>
            <a:r>
              <a:rPr lang="en-US" sz="1000" b="1" dirty="0">
                <a:solidFill>
                  <a:srgbClr val="FFFFFF"/>
                </a:solidFill>
              </a:rPr>
              <a:t>DÉCISION</a:t>
            </a:r>
            <a:endParaRPr lang="en-US" sz="1000" dirty="0"/>
          </a:p>
        </p:txBody>
      </p:sp>
      <p:sp>
        <p:nvSpPr>
          <p:cNvPr id="25" name="Slide Number Placeholder 0"/>
          <p:cNvSpPr>
            <a:spLocks noGrp="1"/>
          </p:cNvSpPr>
          <p:nvPr>
            <p:ph type="sldNum" sz="quarter" idx="4294967295"/>
          </p:nvPr>
        </p:nvSpPr>
        <p:spPr>
          <a:xfrm>
            <a:off x="11722608" y="6528816"/>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78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66928" y="384048"/>
            <a:ext cx="10881360" cy="475488"/>
          </a:xfrm>
          <a:prstGeom prst="rect">
            <a:avLst/>
          </a:prstGeom>
          <a:noFill/>
          <a:ln/>
        </p:spPr>
        <p:txBody>
          <a:bodyPr wrap="square" lIns="0" tIns="0" rIns="0" bIns="0" rtlCol="0" anchor="ctr"/>
          <a:lstStyle/>
          <a:p>
            <a:pPr marL="0" indent="0">
              <a:buNone/>
            </a:pPr>
            <a:r>
              <a:rPr lang="en-US" sz="2800" b="1" dirty="0">
                <a:solidFill>
                  <a:srgbClr val="0B2437"/>
                </a:solidFill>
                <a:latin typeface="Aptos Display" pitchFamily="34" charset="0"/>
                <a:ea typeface="Aptos Display" pitchFamily="34" charset="-122"/>
                <a:cs typeface="Aptos Display" pitchFamily="34" charset="-120"/>
              </a:rPr>
              <a:t>4. Architecture cible</a:t>
            </a:r>
            <a:endParaRPr lang="en-US" sz="2800" dirty="0"/>
          </a:p>
        </p:txBody>
      </p:sp>
      <p:sp>
        <p:nvSpPr>
          <p:cNvPr id="3" name="Text 1"/>
          <p:cNvSpPr/>
          <p:nvPr/>
        </p:nvSpPr>
        <p:spPr>
          <a:xfrm>
            <a:off x="594360" y="896112"/>
            <a:ext cx="10652760" cy="320040"/>
          </a:xfrm>
          <a:prstGeom prst="rect">
            <a:avLst/>
          </a:prstGeom>
          <a:noFill/>
          <a:ln/>
        </p:spPr>
        <p:txBody>
          <a:bodyPr wrap="square" lIns="0" tIns="0" rIns="0" bIns="0" rtlCol="0" anchor="ctr"/>
          <a:lstStyle/>
          <a:p>
            <a:pPr marL="0" indent="0">
              <a:buNone/>
            </a:pPr>
            <a:r>
              <a:rPr lang="en-US" sz="1200" dirty="0">
                <a:solidFill>
                  <a:srgbClr val="607383"/>
                </a:solidFill>
              </a:rPr>
              <a:t>Pilote en lecture seule aujourd’hui, automatisation conditionnelle seulement après démonstration</a:t>
            </a:r>
            <a:endParaRPr lang="en-US" sz="1200" dirty="0"/>
          </a:p>
        </p:txBody>
      </p:sp>
      <p:sp>
        <p:nvSpPr>
          <p:cNvPr id="4" name="Shape 2"/>
          <p:cNvSpPr/>
          <p:nvPr/>
        </p:nvSpPr>
        <p:spPr>
          <a:xfrm>
            <a:off x="502920" y="1243584"/>
            <a:ext cx="7635240" cy="4480560"/>
          </a:xfrm>
          <a:prstGeom prst="roundRect">
            <a:avLst>
              <a:gd name="adj" fmla="val 1633"/>
            </a:avLst>
          </a:prstGeom>
          <a:solidFill>
            <a:srgbClr val="EEF7F8"/>
          </a:solidFill>
          <a:ln w="15240">
            <a:solidFill>
              <a:srgbClr val="B7DDE0"/>
            </a:solidFill>
            <a:prstDash val="solid"/>
          </a:ln>
        </p:spPr>
      </p:sp>
      <p:sp>
        <p:nvSpPr>
          <p:cNvPr id="5" name="Text 3"/>
          <p:cNvSpPr/>
          <p:nvPr/>
        </p:nvSpPr>
        <p:spPr>
          <a:xfrm>
            <a:off x="731520" y="1417320"/>
            <a:ext cx="3200400" cy="228600"/>
          </a:xfrm>
          <a:prstGeom prst="rect">
            <a:avLst/>
          </a:prstGeom>
          <a:noFill/>
          <a:ln/>
        </p:spPr>
        <p:txBody>
          <a:bodyPr wrap="square" lIns="0" tIns="0" rIns="0" bIns="0" rtlCol="0" anchor="ctr"/>
          <a:lstStyle/>
          <a:p>
            <a:pPr marL="0" indent="0">
              <a:buNone/>
            </a:pPr>
            <a:r>
              <a:rPr lang="en-US" sz="1200" b="1" dirty="0">
                <a:solidFill>
                  <a:srgbClr val="00A6B2"/>
                </a:solidFill>
              </a:rPr>
              <a:t>ZONE INDUSTRIELLE ISOLÉE • OT</a:t>
            </a:r>
            <a:endParaRPr lang="en-US" sz="1200" dirty="0"/>
          </a:p>
        </p:txBody>
      </p:sp>
      <p:sp>
        <p:nvSpPr>
          <p:cNvPr id="6" name="Shape 4"/>
          <p:cNvSpPr/>
          <p:nvPr/>
        </p:nvSpPr>
        <p:spPr>
          <a:xfrm>
            <a:off x="777240" y="1901952"/>
            <a:ext cx="1417320" cy="713232"/>
          </a:xfrm>
          <a:prstGeom prst="roundRect">
            <a:avLst>
              <a:gd name="adj" fmla="val 7692"/>
            </a:avLst>
          </a:prstGeom>
          <a:solidFill>
            <a:srgbClr val="FFFFFF"/>
          </a:solidFill>
          <a:ln w="22860">
            <a:solidFill>
              <a:srgbClr val="0B2437"/>
            </a:solidFill>
            <a:prstDash val="solid"/>
          </a:ln>
          <a:effectLst/>
        </p:spPr>
      </p:sp>
      <p:sp>
        <p:nvSpPr>
          <p:cNvPr id="7" name="Text 5"/>
          <p:cNvSpPr/>
          <p:nvPr/>
        </p:nvSpPr>
        <p:spPr>
          <a:xfrm>
            <a:off x="868680" y="2011680"/>
            <a:ext cx="1234440" cy="201168"/>
          </a:xfrm>
          <a:prstGeom prst="rect">
            <a:avLst/>
          </a:prstGeom>
          <a:noFill/>
          <a:ln/>
        </p:spPr>
        <p:txBody>
          <a:bodyPr wrap="square" lIns="0" tIns="0" rIns="0" bIns="0" rtlCol="0" anchor="ctr"/>
          <a:lstStyle/>
          <a:p>
            <a:pPr marL="0" indent="0" algn="ctr">
              <a:buNone/>
            </a:pPr>
            <a:r>
              <a:rPr lang="en-US" sz="1200" b="1" dirty="0">
                <a:solidFill>
                  <a:srgbClr val="0B2437"/>
                </a:solidFill>
              </a:rPr>
              <a:t>Capteurs</a:t>
            </a:r>
            <a:endParaRPr lang="en-US" sz="1200" dirty="0"/>
          </a:p>
        </p:txBody>
      </p:sp>
      <p:sp>
        <p:nvSpPr>
          <p:cNvPr id="8" name="Text 6"/>
          <p:cNvSpPr/>
          <p:nvPr/>
        </p:nvSpPr>
        <p:spPr>
          <a:xfrm>
            <a:off x="850392" y="2286000"/>
            <a:ext cx="1271016" cy="164592"/>
          </a:xfrm>
          <a:prstGeom prst="rect">
            <a:avLst/>
          </a:prstGeom>
          <a:noFill/>
          <a:ln/>
        </p:spPr>
        <p:txBody>
          <a:bodyPr wrap="square" lIns="0" tIns="0" rIns="0" bIns="0" rtlCol="0" anchor="ctr"/>
          <a:lstStyle/>
          <a:p>
            <a:pPr marL="0" indent="0" algn="ctr">
              <a:buNone/>
            </a:pPr>
            <a:r>
              <a:rPr lang="en-US" sz="850" dirty="0">
                <a:solidFill>
                  <a:srgbClr val="607383"/>
                </a:solidFill>
              </a:rPr>
              <a:t>Temp. • pH • niveau</a:t>
            </a:r>
            <a:endParaRPr lang="en-US" sz="850" dirty="0"/>
          </a:p>
        </p:txBody>
      </p:sp>
      <p:sp>
        <p:nvSpPr>
          <p:cNvPr id="9" name="Shape 7"/>
          <p:cNvSpPr/>
          <p:nvPr/>
        </p:nvSpPr>
        <p:spPr>
          <a:xfrm>
            <a:off x="2514600" y="1901952"/>
            <a:ext cx="1508760" cy="713232"/>
          </a:xfrm>
          <a:prstGeom prst="roundRect">
            <a:avLst>
              <a:gd name="adj" fmla="val 7692"/>
            </a:avLst>
          </a:prstGeom>
          <a:solidFill>
            <a:srgbClr val="FFFFFF"/>
          </a:solidFill>
          <a:ln w="22860">
            <a:solidFill>
              <a:srgbClr val="00A6B2"/>
            </a:solidFill>
            <a:prstDash val="solid"/>
          </a:ln>
          <a:effectLst/>
        </p:spPr>
      </p:sp>
      <p:sp>
        <p:nvSpPr>
          <p:cNvPr id="10" name="Text 8"/>
          <p:cNvSpPr/>
          <p:nvPr/>
        </p:nvSpPr>
        <p:spPr>
          <a:xfrm>
            <a:off x="2606040" y="2011680"/>
            <a:ext cx="1325880" cy="201168"/>
          </a:xfrm>
          <a:prstGeom prst="rect">
            <a:avLst/>
          </a:prstGeom>
          <a:noFill/>
          <a:ln/>
        </p:spPr>
        <p:txBody>
          <a:bodyPr wrap="square" lIns="0" tIns="0" rIns="0" bIns="0" rtlCol="0" anchor="ctr"/>
          <a:lstStyle/>
          <a:p>
            <a:pPr marL="0" indent="0" algn="ctr">
              <a:buNone/>
            </a:pPr>
            <a:r>
              <a:rPr lang="en-US" sz="1200" b="1" dirty="0">
                <a:solidFill>
                  <a:srgbClr val="00A6B2"/>
                </a:solidFill>
              </a:rPr>
              <a:t>Supervision</a:t>
            </a:r>
            <a:endParaRPr lang="en-US" sz="1200" dirty="0"/>
          </a:p>
        </p:txBody>
      </p:sp>
      <p:sp>
        <p:nvSpPr>
          <p:cNvPr id="11" name="Text 9"/>
          <p:cNvSpPr/>
          <p:nvPr/>
        </p:nvSpPr>
        <p:spPr>
          <a:xfrm>
            <a:off x="2587752" y="2286000"/>
            <a:ext cx="1362456" cy="164592"/>
          </a:xfrm>
          <a:prstGeom prst="rect">
            <a:avLst/>
          </a:prstGeom>
          <a:noFill/>
          <a:ln/>
        </p:spPr>
        <p:txBody>
          <a:bodyPr wrap="square" lIns="0" tIns="0" rIns="0" bIns="0" rtlCol="0" anchor="ctr"/>
          <a:lstStyle/>
          <a:p>
            <a:pPr marL="0" indent="0" algn="ctr">
              <a:buNone/>
            </a:pPr>
            <a:r>
              <a:rPr lang="en-US" sz="850" dirty="0">
                <a:solidFill>
                  <a:srgbClr val="607383"/>
                </a:solidFill>
              </a:rPr>
              <a:t>Historique local</a:t>
            </a:r>
            <a:endParaRPr lang="en-US" sz="850" dirty="0"/>
          </a:p>
        </p:txBody>
      </p:sp>
      <p:sp>
        <p:nvSpPr>
          <p:cNvPr id="12" name="Shape 10"/>
          <p:cNvSpPr/>
          <p:nvPr/>
        </p:nvSpPr>
        <p:spPr>
          <a:xfrm>
            <a:off x="4370832" y="1901952"/>
            <a:ext cx="1572768" cy="713232"/>
          </a:xfrm>
          <a:prstGeom prst="roundRect">
            <a:avLst>
              <a:gd name="adj" fmla="val 7692"/>
            </a:avLst>
          </a:prstGeom>
          <a:solidFill>
            <a:srgbClr val="FFFFFF"/>
          </a:solidFill>
          <a:ln w="22860">
            <a:solidFill>
              <a:srgbClr val="F6A623"/>
            </a:solidFill>
            <a:prstDash val="solid"/>
          </a:ln>
          <a:effectLst/>
        </p:spPr>
      </p:sp>
      <p:sp>
        <p:nvSpPr>
          <p:cNvPr id="13" name="Text 11"/>
          <p:cNvSpPr/>
          <p:nvPr/>
        </p:nvSpPr>
        <p:spPr>
          <a:xfrm>
            <a:off x="4462272" y="2011680"/>
            <a:ext cx="1389888" cy="201168"/>
          </a:xfrm>
          <a:prstGeom prst="rect">
            <a:avLst/>
          </a:prstGeom>
          <a:noFill/>
          <a:ln/>
        </p:spPr>
        <p:txBody>
          <a:bodyPr wrap="square" lIns="0" tIns="0" rIns="0" bIns="0" rtlCol="0" anchor="ctr"/>
          <a:lstStyle/>
          <a:p>
            <a:pPr marL="0" indent="0" algn="ctr">
              <a:buNone/>
            </a:pPr>
            <a:r>
              <a:rPr lang="en-US" sz="1200" b="1" dirty="0">
                <a:solidFill>
                  <a:srgbClr val="F6A623"/>
                </a:solidFill>
              </a:rPr>
              <a:t>Qualité data</a:t>
            </a:r>
            <a:endParaRPr lang="en-US" sz="1200" dirty="0"/>
          </a:p>
        </p:txBody>
      </p:sp>
      <p:sp>
        <p:nvSpPr>
          <p:cNvPr id="14" name="Text 12"/>
          <p:cNvSpPr/>
          <p:nvPr/>
        </p:nvSpPr>
        <p:spPr>
          <a:xfrm>
            <a:off x="4443984" y="2286000"/>
            <a:ext cx="1426464" cy="164592"/>
          </a:xfrm>
          <a:prstGeom prst="rect">
            <a:avLst/>
          </a:prstGeom>
          <a:noFill/>
          <a:ln/>
        </p:spPr>
        <p:txBody>
          <a:bodyPr wrap="square" lIns="0" tIns="0" rIns="0" bIns="0" rtlCol="0" anchor="ctr"/>
          <a:lstStyle/>
          <a:p>
            <a:pPr marL="0" indent="0" algn="ctr">
              <a:buNone/>
            </a:pPr>
            <a:r>
              <a:rPr lang="en-US" sz="850" dirty="0">
                <a:solidFill>
                  <a:srgbClr val="607383"/>
                </a:solidFill>
              </a:rPr>
              <a:t>Contrôles + jointures</a:t>
            </a:r>
            <a:endParaRPr lang="en-US" sz="850" dirty="0"/>
          </a:p>
        </p:txBody>
      </p:sp>
      <p:sp>
        <p:nvSpPr>
          <p:cNvPr id="15" name="Shape 13"/>
          <p:cNvSpPr/>
          <p:nvPr/>
        </p:nvSpPr>
        <p:spPr>
          <a:xfrm>
            <a:off x="6291072" y="1901952"/>
            <a:ext cx="1481328" cy="713232"/>
          </a:xfrm>
          <a:prstGeom prst="roundRect">
            <a:avLst>
              <a:gd name="adj" fmla="val 7692"/>
            </a:avLst>
          </a:prstGeom>
          <a:solidFill>
            <a:srgbClr val="FFFFFF"/>
          </a:solidFill>
          <a:ln w="22860">
            <a:solidFill>
              <a:srgbClr val="21A366"/>
            </a:solidFill>
            <a:prstDash val="solid"/>
          </a:ln>
          <a:effectLst/>
        </p:spPr>
      </p:sp>
      <p:sp>
        <p:nvSpPr>
          <p:cNvPr id="16" name="Text 14"/>
          <p:cNvSpPr/>
          <p:nvPr/>
        </p:nvSpPr>
        <p:spPr>
          <a:xfrm>
            <a:off x="6382512" y="2011680"/>
            <a:ext cx="1298448" cy="201168"/>
          </a:xfrm>
          <a:prstGeom prst="rect">
            <a:avLst/>
          </a:prstGeom>
          <a:noFill/>
          <a:ln/>
        </p:spPr>
        <p:txBody>
          <a:bodyPr wrap="square" lIns="0" tIns="0" rIns="0" bIns="0" rtlCol="0" anchor="ctr"/>
          <a:lstStyle/>
          <a:p>
            <a:pPr marL="0" indent="0" algn="ctr">
              <a:buNone/>
            </a:pPr>
            <a:r>
              <a:rPr lang="en-US" sz="1200" b="1" dirty="0">
                <a:solidFill>
                  <a:srgbClr val="21A366"/>
                </a:solidFill>
              </a:rPr>
              <a:t>Moteur ML</a:t>
            </a:r>
            <a:endParaRPr lang="en-US" sz="1200" dirty="0"/>
          </a:p>
        </p:txBody>
      </p:sp>
      <p:sp>
        <p:nvSpPr>
          <p:cNvPr id="17" name="Text 15"/>
          <p:cNvSpPr/>
          <p:nvPr/>
        </p:nvSpPr>
        <p:spPr>
          <a:xfrm>
            <a:off x="6364224" y="2286000"/>
            <a:ext cx="1335024" cy="164592"/>
          </a:xfrm>
          <a:prstGeom prst="rect">
            <a:avLst/>
          </a:prstGeom>
          <a:noFill/>
          <a:ln/>
        </p:spPr>
        <p:txBody>
          <a:bodyPr wrap="square" lIns="0" tIns="0" rIns="0" bIns="0" rtlCol="0" anchor="ctr"/>
          <a:lstStyle/>
          <a:p>
            <a:pPr marL="0" indent="0" algn="ctr">
              <a:buNone/>
            </a:pPr>
            <a:r>
              <a:rPr lang="en-US" sz="850" dirty="0">
                <a:solidFill>
                  <a:srgbClr val="607383"/>
                </a:solidFill>
              </a:rPr>
              <a:t>Score de risque</a:t>
            </a:r>
            <a:endParaRPr lang="en-US" sz="850" dirty="0"/>
          </a:p>
        </p:txBody>
      </p:sp>
      <p:sp>
        <p:nvSpPr>
          <p:cNvPr id="18" name="Shape 16"/>
          <p:cNvSpPr/>
          <p:nvPr/>
        </p:nvSpPr>
        <p:spPr>
          <a:xfrm>
            <a:off x="6291072" y="3767328"/>
            <a:ext cx="1481328" cy="713232"/>
          </a:xfrm>
          <a:prstGeom prst="roundRect">
            <a:avLst>
              <a:gd name="adj" fmla="val 7692"/>
            </a:avLst>
          </a:prstGeom>
          <a:solidFill>
            <a:srgbClr val="FFFFFF"/>
          </a:solidFill>
          <a:ln w="22860">
            <a:solidFill>
              <a:srgbClr val="0B2437"/>
            </a:solidFill>
            <a:prstDash val="solid"/>
          </a:ln>
          <a:effectLst/>
        </p:spPr>
      </p:sp>
      <p:sp>
        <p:nvSpPr>
          <p:cNvPr id="19" name="Text 17"/>
          <p:cNvSpPr/>
          <p:nvPr/>
        </p:nvSpPr>
        <p:spPr>
          <a:xfrm>
            <a:off x="6382512" y="3877056"/>
            <a:ext cx="1298448" cy="201168"/>
          </a:xfrm>
          <a:prstGeom prst="rect">
            <a:avLst/>
          </a:prstGeom>
          <a:noFill/>
          <a:ln/>
        </p:spPr>
        <p:txBody>
          <a:bodyPr wrap="square" lIns="0" tIns="0" rIns="0" bIns="0" rtlCol="0" anchor="ctr"/>
          <a:lstStyle/>
          <a:p>
            <a:pPr marL="0" indent="0" algn="ctr">
              <a:buNone/>
            </a:pPr>
            <a:r>
              <a:rPr lang="en-US" sz="1200" b="1" dirty="0">
                <a:solidFill>
                  <a:srgbClr val="0B2437"/>
                </a:solidFill>
              </a:rPr>
              <a:t>Journalisation</a:t>
            </a:r>
            <a:endParaRPr lang="en-US" sz="1200" dirty="0"/>
          </a:p>
        </p:txBody>
      </p:sp>
      <p:sp>
        <p:nvSpPr>
          <p:cNvPr id="20" name="Text 18"/>
          <p:cNvSpPr/>
          <p:nvPr/>
        </p:nvSpPr>
        <p:spPr>
          <a:xfrm>
            <a:off x="6364224" y="4151376"/>
            <a:ext cx="1335024" cy="164592"/>
          </a:xfrm>
          <a:prstGeom prst="rect">
            <a:avLst/>
          </a:prstGeom>
          <a:noFill/>
          <a:ln/>
        </p:spPr>
        <p:txBody>
          <a:bodyPr wrap="square" lIns="0" tIns="0" rIns="0" bIns="0" rtlCol="0" anchor="ctr"/>
          <a:lstStyle/>
          <a:p>
            <a:pPr marL="0" indent="0" algn="ctr">
              <a:buNone/>
            </a:pPr>
            <a:r>
              <a:rPr lang="en-US" sz="850" dirty="0">
                <a:solidFill>
                  <a:srgbClr val="607383"/>
                </a:solidFill>
              </a:rPr>
              <a:t>Alertes + résultats</a:t>
            </a:r>
            <a:endParaRPr lang="en-US" sz="850" dirty="0"/>
          </a:p>
        </p:txBody>
      </p:sp>
      <p:sp>
        <p:nvSpPr>
          <p:cNvPr id="21" name="Shape 19"/>
          <p:cNvSpPr/>
          <p:nvPr/>
        </p:nvSpPr>
        <p:spPr>
          <a:xfrm>
            <a:off x="2194560" y="2258568"/>
            <a:ext cx="320040" cy="1"/>
          </a:xfrm>
          <a:prstGeom prst="line">
            <a:avLst/>
          </a:prstGeom>
          <a:noFill/>
          <a:ln w="25400">
            <a:solidFill>
              <a:srgbClr val="0B2437"/>
            </a:solidFill>
            <a:prstDash val="solid"/>
            <a:tailEnd type="triangle"/>
          </a:ln>
        </p:spPr>
      </p:sp>
      <p:sp>
        <p:nvSpPr>
          <p:cNvPr id="22" name="Shape 20"/>
          <p:cNvSpPr/>
          <p:nvPr/>
        </p:nvSpPr>
        <p:spPr>
          <a:xfrm>
            <a:off x="4023360" y="2258568"/>
            <a:ext cx="347472" cy="1"/>
          </a:xfrm>
          <a:prstGeom prst="line">
            <a:avLst/>
          </a:prstGeom>
          <a:noFill/>
          <a:ln w="25400">
            <a:solidFill>
              <a:srgbClr val="0B2437"/>
            </a:solidFill>
            <a:prstDash val="solid"/>
            <a:tailEnd type="triangle"/>
          </a:ln>
        </p:spPr>
      </p:sp>
      <p:sp>
        <p:nvSpPr>
          <p:cNvPr id="23" name="Shape 21"/>
          <p:cNvSpPr/>
          <p:nvPr/>
        </p:nvSpPr>
        <p:spPr>
          <a:xfrm>
            <a:off x="5943600" y="2258568"/>
            <a:ext cx="347472" cy="1"/>
          </a:xfrm>
          <a:prstGeom prst="line">
            <a:avLst/>
          </a:prstGeom>
          <a:noFill/>
          <a:ln w="25400">
            <a:solidFill>
              <a:srgbClr val="0B2437"/>
            </a:solidFill>
            <a:prstDash val="solid"/>
            <a:tailEnd type="triangle"/>
          </a:ln>
        </p:spPr>
      </p:sp>
      <p:sp>
        <p:nvSpPr>
          <p:cNvPr id="24" name="Shape 22"/>
          <p:cNvSpPr/>
          <p:nvPr/>
        </p:nvSpPr>
        <p:spPr>
          <a:xfrm>
            <a:off x="7022592" y="2633472"/>
            <a:ext cx="1" cy="1115568"/>
          </a:xfrm>
          <a:prstGeom prst="line">
            <a:avLst/>
          </a:prstGeom>
          <a:noFill/>
          <a:ln w="25400">
            <a:solidFill>
              <a:srgbClr val="0B2437"/>
            </a:solidFill>
            <a:prstDash val="solid"/>
            <a:tailEnd type="triangle"/>
          </a:ln>
        </p:spPr>
      </p:sp>
      <p:sp>
        <p:nvSpPr>
          <p:cNvPr id="25" name="Shape 23"/>
          <p:cNvSpPr/>
          <p:nvPr/>
        </p:nvSpPr>
        <p:spPr>
          <a:xfrm>
            <a:off x="8458200" y="1243584"/>
            <a:ext cx="3246120" cy="4480560"/>
          </a:xfrm>
          <a:prstGeom prst="roundRect">
            <a:avLst>
              <a:gd name="adj" fmla="val 2254"/>
            </a:avLst>
          </a:prstGeom>
          <a:solidFill>
            <a:srgbClr val="FFF7EB"/>
          </a:solidFill>
          <a:ln w="15240">
            <a:solidFill>
              <a:srgbClr val="F4C47B"/>
            </a:solidFill>
            <a:prstDash val="solid"/>
          </a:ln>
        </p:spPr>
      </p:sp>
      <p:sp>
        <p:nvSpPr>
          <p:cNvPr id="26" name="Text 24"/>
          <p:cNvSpPr/>
          <p:nvPr/>
        </p:nvSpPr>
        <p:spPr>
          <a:xfrm>
            <a:off x="8714232" y="1417320"/>
            <a:ext cx="2724912" cy="228600"/>
          </a:xfrm>
          <a:prstGeom prst="rect">
            <a:avLst/>
          </a:prstGeom>
          <a:noFill/>
          <a:ln/>
        </p:spPr>
        <p:txBody>
          <a:bodyPr wrap="square" lIns="0" tIns="0" rIns="0" bIns="0" rtlCol="0" anchor="ctr"/>
          <a:lstStyle/>
          <a:p>
            <a:pPr marL="0" indent="0" algn="ctr">
              <a:buNone/>
            </a:pPr>
            <a:r>
              <a:rPr lang="en-US" sz="1200" b="1" dirty="0">
                <a:solidFill>
                  <a:srgbClr val="A56600"/>
                </a:solidFill>
              </a:rPr>
              <a:t>DÉCISION &amp; EXPLOITATION</a:t>
            </a:r>
            <a:endParaRPr lang="en-US" sz="1200" dirty="0"/>
          </a:p>
        </p:txBody>
      </p:sp>
      <p:sp>
        <p:nvSpPr>
          <p:cNvPr id="27" name="Shape 25"/>
          <p:cNvSpPr/>
          <p:nvPr/>
        </p:nvSpPr>
        <p:spPr>
          <a:xfrm>
            <a:off x="8887968" y="1965960"/>
            <a:ext cx="2377440" cy="786384"/>
          </a:xfrm>
          <a:prstGeom prst="roundRect">
            <a:avLst>
              <a:gd name="adj" fmla="val 6977"/>
            </a:avLst>
          </a:prstGeom>
          <a:solidFill>
            <a:srgbClr val="FFFFFF"/>
          </a:solidFill>
          <a:ln w="25400">
            <a:solidFill>
              <a:srgbClr val="F6A623"/>
            </a:solidFill>
            <a:prstDash val="solid"/>
          </a:ln>
          <a:effectLst/>
        </p:spPr>
      </p:sp>
      <p:sp>
        <p:nvSpPr>
          <p:cNvPr id="28" name="Text 26"/>
          <p:cNvSpPr/>
          <p:nvPr/>
        </p:nvSpPr>
        <p:spPr>
          <a:xfrm>
            <a:off x="9052560" y="2231136"/>
            <a:ext cx="2057400" cy="201168"/>
          </a:xfrm>
          <a:prstGeom prst="rect">
            <a:avLst/>
          </a:prstGeom>
          <a:noFill/>
          <a:ln/>
        </p:spPr>
        <p:txBody>
          <a:bodyPr wrap="square" lIns="0" tIns="0" rIns="0" bIns="0" rtlCol="0" anchor="ctr"/>
          <a:lstStyle/>
          <a:p>
            <a:pPr marL="0" indent="0" algn="ctr">
              <a:buNone/>
            </a:pPr>
            <a:r>
              <a:rPr lang="en-US" sz="1400" b="1" dirty="0">
                <a:solidFill>
                  <a:srgbClr val="0B2437"/>
                </a:solidFill>
              </a:rPr>
              <a:t>Alerte actionnable</a:t>
            </a:r>
            <a:endParaRPr lang="en-US" sz="1400" dirty="0"/>
          </a:p>
        </p:txBody>
      </p:sp>
      <p:sp>
        <p:nvSpPr>
          <p:cNvPr id="29" name="Shape 27"/>
          <p:cNvSpPr/>
          <p:nvPr/>
        </p:nvSpPr>
        <p:spPr>
          <a:xfrm>
            <a:off x="7772400" y="2304288"/>
            <a:ext cx="1097280" cy="1"/>
          </a:xfrm>
          <a:prstGeom prst="line">
            <a:avLst/>
          </a:prstGeom>
          <a:noFill/>
          <a:ln w="31750">
            <a:solidFill>
              <a:srgbClr val="F6A623"/>
            </a:solidFill>
            <a:prstDash val="solid"/>
            <a:tailEnd type="triangle"/>
          </a:ln>
        </p:spPr>
      </p:sp>
      <p:sp>
        <p:nvSpPr>
          <p:cNvPr id="30" name="Shape 28"/>
          <p:cNvSpPr/>
          <p:nvPr/>
        </p:nvSpPr>
        <p:spPr>
          <a:xfrm>
            <a:off x="8887968" y="3063240"/>
            <a:ext cx="2377440" cy="868680"/>
          </a:xfrm>
          <a:prstGeom prst="roundRect">
            <a:avLst>
              <a:gd name="adj" fmla="val 6316"/>
            </a:avLst>
          </a:prstGeom>
          <a:solidFill>
            <a:srgbClr val="FFFFFF"/>
          </a:solidFill>
          <a:ln w="25400">
            <a:solidFill>
              <a:srgbClr val="00A6B2"/>
            </a:solidFill>
            <a:prstDash val="solid"/>
          </a:ln>
          <a:effectLst/>
        </p:spPr>
      </p:sp>
      <p:sp>
        <p:nvSpPr>
          <p:cNvPr id="31" name="Text 29"/>
          <p:cNvSpPr/>
          <p:nvPr/>
        </p:nvSpPr>
        <p:spPr>
          <a:xfrm>
            <a:off x="9052560" y="3364992"/>
            <a:ext cx="2057400" cy="201168"/>
          </a:xfrm>
          <a:prstGeom prst="rect">
            <a:avLst/>
          </a:prstGeom>
          <a:noFill/>
          <a:ln/>
        </p:spPr>
        <p:txBody>
          <a:bodyPr wrap="square" lIns="0" tIns="0" rIns="0" bIns="0" rtlCol="0" anchor="ctr"/>
          <a:lstStyle/>
          <a:p>
            <a:pPr marL="0" indent="0" algn="ctr">
              <a:buNone/>
            </a:pPr>
            <a:r>
              <a:rPr lang="en-US" sz="1400" b="1" dirty="0">
                <a:solidFill>
                  <a:srgbClr val="0B2437"/>
                </a:solidFill>
              </a:rPr>
              <a:t>Validation humaine</a:t>
            </a:r>
            <a:endParaRPr lang="en-US" sz="1400" dirty="0"/>
          </a:p>
        </p:txBody>
      </p:sp>
      <p:sp>
        <p:nvSpPr>
          <p:cNvPr id="32" name="Shape 30"/>
          <p:cNvSpPr/>
          <p:nvPr/>
        </p:nvSpPr>
        <p:spPr>
          <a:xfrm>
            <a:off x="10058400" y="2761488"/>
            <a:ext cx="1" cy="292608"/>
          </a:xfrm>
          <a:prstGeom prst="line">
            <a:avLst/>
          </a:prstGeom>
          <a:noFill/>
          <a:ln w="25400">
            <a:solidFill>
              <a:srgbClr val="0B2437"/>
            </a:solidFill>
            <a:prstDash val="solid"/>
            <a:tailEnd type="triangle"/>
          </a:ln>
        </p:spPr>
      </p:sp>
      <p:sp>
        <p:nvSpPr>
          <p:cNvPr id="33" name="Shape 31"/>
          <p:cNvSpPr/>
          <p:nvPr/>
        </p:nvSpPr>
        <p:spPr>
          <a:xfrm>
            <a:off x="8887968" y="4315968"/>
            <a:ext cx="2377440" cy="749808"/>
          </a:xfrm>
          <a:prstGeom prst="roundRect">
            <a:avLst>
              <a:gd name="adj" fmla="val 7317"/>
            </a:avLst>
          </a:prstGeom>
          <a:solidFill>
            <a:srgbClr val="FDECEC"/>
          </a:solidFill>
          <a:ln w="25400">
            <a:solidFill>
              <a:srgbClr val="D64545"/>
            </a:solidFill>
            <a:prstDash val="solid"/>
          </a:ln>
        </p:spPr>
      </p:sp>
      <p:sp>
        <p:nvSpPr>
          <p:cNvPr id="34" name="Text 32"/>
          <p:cNvSpPr/>
          <p:nvPr/>
        </p:nvSpPr>
        <p:spPr>
          <a:xfrm>
            <a:off x="9052560" y="4507992"/>
            <a:ext cx="2057400" cy="347472"/>
          </a:xfrm>
          <a:prstGeom prst="rect">
            <a:avLst/>
          </a:prstGeom>
          <a:noFill/>
          <a:ln/>
        </p:spPr>
        <p:txBody>
          <a:bodyPr wrap="square" lIns="0" tIns="0" rIns="0" bIns="0" rtlCol="0" anchor="ctr"/>
          <a:lstStyle/>
          <a:p>
            <a:pPr marL="0" indent="0" algn="ctr">
              <a:buNone/>
            </a:pPr>
            <a:r>
              <a:rPr lang="en-US" sz="1150" b="1" dirty="0">
                <a:solidFill>
                  <a:srgbClr val="D64545"/>
                </a:solidFill>
              </a:rPr>
              <a:t>Arrêt automatique</a:t>
            </a:r>
            <a:endParaRPr lang="en-US" sz="1150" dirty="0"/>
          </a:p>
          <a:p>
            <a:pPr marL="0" indent="0" algn="ctr">
              <a:buNone/>
            </a:pPr>
            <a:r>
              <a:rPr lang="en-US" sz="1150" b="1" dirty="0">
                <a:solidFill>
                  <a:srgbClr val="D64545"/>
                </a:solidFill>
              </a:rPr>
              <a:t>NON activé au pilote</a:t>
            </a:r>
            <a:endParaRPr lang="en-US" sz="1150" dirty="0"/>
          </a:p>
        </p:txBody>
      </p:sp>
      <p:sp>
        <p:nvSpPr>
          <p:cNvPr id="35" name="Shape 33"/>
          <p:cNvSpPr/>
          <p:nvPr/>
        </p:nvSpPr>
        <p:spPr>
          <a:xfrm>
            <a:off x="10058400" y="3931920"/>
            <a:ext cx="1" cy="365760"/>
          </a:xfrm>
          <a:prstGeom prst="line">
            <a:avLst/>
          </a:prstGeom>
          <a:noFill/>
          <a:ln w="25400">
            <a:solidFill>
              <a:srgbClr val="D64545"/>
            </a:solidFill>
            <a:prstDash val="solid"/>
            <a:tailEnd type="triangle"/>
          </a:ln>
        </p:spPr>
      </p:sp>
      <p:sp>
        <p:nvSpPr>
          <p:cNvPr id="36" name="Text 34"/>
          <p:cNvSpPr/>
          <p:nvPr/>
        </p:nvSpPr>
        <p:spPr>
          <a:xfrm>
            <a:off x="685800" y="5925312"/>
            <a:ext cx="10789920" cy="310896"/>
          </a:xfrm>
          <a:prstGeom prst="rect">
            <a:avLst/>
          </a:prstGeom>
          <a:noFill/>
          <a:ln/>
        </p:spPr>
        <p:txBody>
          <a:bodyPr wrap="square" lIns="0" tIns="0" rIns="0" bIns="0" rtlCol="0" anchor="ctr"/>
          <a:lstStyle/>
          <a:p>
            <a:pPr marL="0" indent="0" algn="ctr">
              <a:buNone/>
            </a:pPr>
            <a:r>
              <a:rPr lang="en-US" sz="1300" b="1" dirty="0">
                <a:solidFill>
                  <a:srgbClr val="0B2437"/>
                </a:solidFill>
              </a:rPr>
              <a:t>Aucune connexion Internet directe depuis l’atelier • accès en lecture seule pendant le pilote</a:t>
            </a:r>
            <a:endParaRPr lang="en-US" sz="1300" dirty="0"/>
          </a:p>
        </p:txBody>
      </p:sp>
      <p:sp>
        <p:nvSpPr>
          <p:cNvPr id="37" name="Slide Number Placeholder 0"/>
          <p:cNvSpPr>
            <a:spLocks noGrp="1"/>
          </p:cNvSpPr>
          <p:nvPr>
            <p:ph type="sldNum" sz="quarter" idx="4294967295"/>
          </p:nvPr>
        </p:nvSpPr>
        <p:spPr>
          <a:xfrm>
            <a:off x="11722608" y="6528816"/>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78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66928" y="384048"/>
            <a:ext cx="10881360" cy="475488"/>
          </a:xfrm>
          <a:prstGeom prst="rect">
            <a:avLst/>
          </a:prstGeom>
          <a:noFill/>
          <a:ln/>
        </p:spPr>
        <p:txBody>
          <a:bodyPr wrap="square" lIns="0" tIns="0" rIns="0" bIns="0" rtlCol="0" anchor="ctr"/>
          <a:lstStyle/>
          <a:p>
            <a:pPr marL="0" indent="0">
              <a:buNone/>
            </a:pPr>
            <a:r>
              <a:rPr lang="en-US" sz="2800" b="1" dirty="0">
                <a:solidFill>
                  <a:srgbClr val="0B2437"/>
                </a:solidFill>
                <a:latin typeface="Aptos Display" pitchFamily="34" charset="0"/>
                <a:ea typeface="Aptos Display" pitchFamily="34" charset="-122"/>
                <a:cs typeface="Aptos Display" pitchFamily="34" charset="-120"/>
              </a:rPr>
              <a:t>5. Comment vérifier que cela fonctionne</a:t>
            </a:r>
            <a:endParaRPr lang="en-US" sz="2800" dirty="0"/>
          </a:p>
        </p:txBody>
      </p:sp>
      <p:sp>
        <p:nvSpPr>
          <p:cNvPr id="3" name="Text 1"/>
          <p:cNvSpPr/>
          <p:nvPr/>
        </p:nvSpPr>
        <p:spPr>
          <a:xfrm>
            <a:off x="594360" y="896112"/>
            <a:ext cx="10652760" cy="320040"/>
          </a:xfrm>
          <a:prstGeom prst="rect">
            <a:avLst/>
          </a:prstGeom>
          <a:noFill/>
          <a:ln/>
        </p:spPr>
        <p:txBody>
          <a:bodyPr wrap="square" lIns="0" tIns="0" rIns="0" bIns="0" rtlCol="0" anchor="ctr"/>
          <a:lstStyle/>
          <a:p>
            <a:pPr marL="0" indent="0">
              <a:buNone/>
            </a:pPr>
            <a:r>
              <a:rPr lang="en-US" sz="1200" dirty="0">
                <a:solidFill>
                  <a:srgbClr val="607383"/>
                </a:solidFill>
              </a:rPr>
              <a:t>Une validation chronologique, des KPI métier et une lecture prudente des résultats</a:t>
            </a:r>
            <a:endParaRPr lang="en-US" sz="1200" dirty="0"/>
          </a:p>
        </p:txBody>
      </p:sp>
      <p:sp>
        <p:nvSpPr>
          <p:cNvPr id="4" name="Shape 2"/>
          <p:cNvSpPr/>
          <p:nvPr/>
        </p:nvSpPr>
        <p:spPr>
          <a:xfrm>
            <a:off x="685800" y="1481328"/>
            <a:ext cx="2240280" cy="868680"/>
          </a:xfrm>
          <a:prstGeom prst="roundRect">
            <a:avLst>
              <a:gd name="adj" fmla="val 6316"/>
            </a:avLst>
          </a:prstGeom>
          <a:solidFill>
            <a:srgbClr val="FFFFFF"/>
          </a:solidFill>
          <a:ln w="12700">
            <a:solidFill>
              <a:srgbClr val="C9D5DE"/>
            </a:solidFill>
            <a:prstDash val="solid"/>
          </a:ln>
          <a:effectLst/>
        </p:spPr>
      </p:sp>
      <p:sp>
        <p:nvSpPr>
          <p:cNvPr id="5" name="Text 3"/>
          <p:cNvSpPr/>
          <p:nvPr/>
        </p:nvSpPr>
        <p:spPr>
          <a:xfrm>
            <a:off x="795528" y="1664208"/>
            <a:ext cx="2020824" cy="201168"/>
          </a:xfrm>
          <a:prstGeom prst="rect">
            <a:avLst/>
          </a:prstGeom>
          <a:noFill/>
          <a:ln/>
        </p:spPr>
        <p:txBody>
          <a:bodyPr wrap="square" lIns="0" tIns="0" rIns="0" bIns="0" rtlCol="0" anchor="ctr"/>
          <a:lstStyle/>
          <a:p>
            <a:pPr marL="0" indent="0" algn="ctr">
              <a:buNone/>
            </a:pPr>
            <a:r>
              <a:rPr lang="en-US" sz="1400" b="1" dirty="0">
                <a:solidFill>
                  <a:srgbClr val="0B2437"/>
                </a:solidFill>
              </a:rPr>
              <a:t>Historique</a:t>
            </a:r>
            <a:endParaRPr lang="en-US" sz="1400" dirty="0"/>
          </a:p>
        </p:txBody>
      </p:sp>
      <p:sp>
        <p:nvSpPr>
          <p:cNvPr id="6" name="Text 4"/>
          <p:cNvSpPr/>
          <p:nvPr/>
        </p:nvSpPr>
        <p:spPr>
          <a:xfrm>
            <a:off x="795528" y="1993392"/>
            <a:ext cx="2020824" cy="164592"/>
          </a:xfrm>
          <a:prstGeom prst="rect">
            <a:avLst/>
          </a:prstGeom>
          <a:noFill/>
          <a:ln/>
        </p:spPr>
        <p:txBody>
          <a:bodyPr wrap="square" lIns="0" tIns="0" rIns="0" bIns="0" rtlCol="0" anchor="ctr"/>
          <a:lstStyle/>
          <a:p>
            <a:pPr marL="0" indent="0" algn="ctr">
              <a:buNone/>
            </a:pPr>
            <a:r>
              <a:rPr lang="en-US" sz="950" dirty="0">
                <a:solidFill>
                  <a:srgbClr val="607383"/>
                </a:solidFill>
              </a:rPr>
              <a:t>Entraînement</a:t>
            </a:r>
            <a:endParaRPr lang="en-US" sz="950" dirty="0"/>
          </a:p>
        </p:txBody>
      </p:sp>
      <p:sp>
        <p:nvSpPr>
          <p:cNvPr id="7" name="Shape 5"/>
          <p:cNvSpPr/>
          <p:nvPr/>
        </p:nvSpPr>
        <p:spPr>
          <a:xfrm>
            <a:off x="2926080" y="1901952"/>
            <a:ext cx="457200" cy="1"/>
          </a:xfrm>
          <a:prstGeom prst="line">
            <a:avLst/>
          </a:prstGeom>
          <a:noFill/>
          <a:ln w="25400">
            <a:solidFill>
              <a:srgbClr val="0B2437"/>
            </a:solidFill>
            <a:prstDash val="solid"/>
            <a:tailEnd type="triangle"/>
          </a:ln>
        </p:spPr>
      </p:sp>
      <p:sp>
        <p:nvSpPr>
          <p:cNvPr id="8" name="Shape 6"/>
          <p:cNvSpPr/>
          <p:nvPr/>
        </p:nvSpPr>
        <p:spPr>
          <a:xfrm>
            <a:off x="3383280" y="1481328"/>
            <a:ext cx="2240280" cy="868680"/>
          </a:xfrm>
          <a:prstGeom prst="roundRect">
            <a:avLst>
              <a:gd name="adj" fmla="val 6316"/>
            </a:avLst>
          </a:prstGeom>
          <a:solidFill>
            <a:srgbClr val="FFFFFF"/>
          </a:solidFill>
          <a:ln w="12700">
            <a:solidFill>
              <a:srgbClr val="C9D5DE"/>
            </a:solidFill>
            <a:prstDash val="solid"/>
          </a:ln>
          <a:effectLst/>
        </p:spPr>
      </p:sp>
      <p:sp>
        <p:nvSpPr>
          <p:cNvPr id="9" name="Text 7"/>
          <p:cNvSpPr/>
          <p:nvPr/>
        </p:nvSpPr>
        <p:spPr>
          <a:xfrm>
            <a:off x="3493008" y="1664208"/>
            <a:ext cx="2020824" cy="201168"/>
          </a:xfrm>
          <a:prstGeom prst="rect">
            <a:avLst/>
          </a:prstGeom>
          <a:noFill/>
          <a:ln/>
        </p:spPr>
        <p:txBody>
          <a:bodyPr wrap="square" lIns="0" tIns="0" rIns="0" bIns="0" rtlCol="0" anchor="ctr"/>
          <a:lstStyle/>
          <a:p>
            <a:pPr marL="0" indent="0" algn="ctr">
              <a:buNone/>
            </a:pPr>
            <a:r>
              <a:rPr lang="en-US" sz="1400" b="1" dirty="0">
                <a:solidFill>
                  <a:srgbClr val="0B2437"/>
                </a:solidFill>
              </a:rPr>
              <a:t>Période future</a:t>
            </a:r>
            <a:endParaRPr lang="en-US" sz="1400" dirty="0"/>
          </a:p>
        </p:txBody>
      </p:sp>
      <p:sp>
        <p:nvSpPr>
          <p:cNvPr id="10" name="Text 8"/>
          <p:cNvSpPr/>
          <p:nvPr/>
        </p:nvSpPr>
        <p:spPr>
          <a:xfrm>
            <a:off x="3493008" y="1993392"/>
            <a:ext cx="2020824" cy="164592"/>
          </a:xfrm>
          <a:prstGeom prst="rect">
            <a:avLst/>
          </a:prstGeom>
          <a:noFill/>
          <a:ln/>
        </p:spPr>
        <p:txBody>
          <a:bodyPr wrap="square" lIns="0" tIns="0" rIns="0" bIns="0" rtlCol="0" anchor="ctr"/>
          <a:lstStyle/>
          <a:p>
            <a:pPr marL="0" indent="0" algn="ctr">
              <a:buNone/>
            </a:pPr>
            <a:r>
              <a:rPr lang="en-US" sz="950" dirty="0">
                <a:solidFill>
                  <a:srgbClr val="607383"/>
                </a:solidFill>
              </a:rPr>
              <a:t>Test hors ligne</a:t>
            </a:r>
            <a:endParaRPr lang="en-US" sz="950" dirty="0"/>
          </a:p>
        </p:txBody>
      </p:sp>
      <p:sp>
        <p:nvSpPr>
          <p:cNvPr id="11" name="Shape 9"/>
          <p:cNvSpPr/>
          <p:nvPr/>
        </p:nvSpPr>
        <p:spPr>
          <a:xfrm>
            <a:off x="5623560" y="1901952"/>
            <a:ext cx="457200" cy="1"/>
          </a:xfrm>
          <a:prstGeom prst="line">
            <a:avLst/>
          </a:prstGeom>
          <a:noFill/>
          <a:ln w="25400">
            <a:solidFill>
              <a:srgbClr val="0B2437"/>
            </a:solidFill>
            <a:prstDash val="solid"/>
            <a:tailEnd type="triangle"/>
          </a:ln>
        </p:spPr>
      </p:sp>
      <p:sp>
        <p:nvSpPr>
          <p:cNvPr id="12" name="Shape 10"/>
          <p:cNvSpPr/>
          <p:nvPr/>
        </p:nvSpPr>
        <p:spPr>
          <a:xfrm>
            <a:off x="6080760" y="1481328"/>
            <a:ext cx="2240280" cy="868680"/>
          </a:xfrm>
          <a:prstGeom prst="roundRect">
            <a:avLst>
              <a:gd name="adj" fmla="val 6316"/>
            </a:avLst>
          </a:prstGeom>
          <a:solidFill>
            <a:srgbClr val="E8F4F5"/>
          </a:solidFill>
          <a:ln w="25400">
            <a:solidFill>
              <a:srgbClr val="00A6B2"/>
            </a:solidFill>
            <a:prstDash val="solid"/>
          </a:ln>
          <a:effectLst/>
        </p:spPr>
      </p:sp>
      <p:sp>
        <p:nvSpPr>
          <p:cNvPr id="13" name="Text 11"/>
          <p:cNvSpPr/>
          <p:nvPr/>
        </p:nvSpPr>
        <p:spPr>
          <a:xfrm>
            <a:off x="6190488" y="1664208"/>
            <a:ext cx="2020824" cy="201168"/>
          </a:xfrm>
          <a:prstGeom prst="rect">
            <a:avLst/>
          </a:prstGeom>
          <a:noFill/>
          <a:ln/>
        </p:spPr>
        <p:txBody>
          <a:bodyPr wrap="square" lIns="0" tIns="0" rIns="0" bIns="0" rtlCol="0" anchor="ctr"/>
          <a:lstStyle/>
          <a:p>
            <a:pPr marL="0" indent="0" algn="ctr">
              <a:buNone/>
            </a:pPr>
            <a:r>
              <a:rPr lang="en-US" sz="1400" b="1" dirty="0">
                <a:solidFill>
                  <a:srgbClr val="0B2437"/>
                </a:solidFill>
              </a:rPr>
              <a:t>Pilote</a:t>
            </a:r>
            <a:endParaRPr lang="en-US" sz="1400" dirty="0"/>
          </a:p>
        </p:txBody>
      </p:sp>
      <p:sp>
        <p:nvSpPr>
          <p:cNvPr id="14" name="Text 12"/>
          <p:cNvSpPr/>
          <p:nvPr/>
        </p:nvSpPr>
        <p:spPr>
          <a:xfrm>
            <a:off x="6190488" y="1993392"/>
            <a:ext cx="2020824" cy="164592"/>
          </a:xfrm>
          <a:prstGeom prst="rect">
            <a:avLst/>
          </a:prstGeom>
          <a:noFill/>
          <a:ln/>
        </p:spPr>
        <p:txBody>
          <a:bodyPr wrap="square" lIns="0" tIns="0" rIns="0" bIns="0" rtlCol="0" anchor="ctr"/>
          <a:lstStyle/>
          <a:p>
            <a:pPr marL="0" indent="0" algn="ctr">
              <a:buNone/>
            </a:pPr>
            <a:r>
              <a:rPr lang="en-US" sz="950" dirty="0">
                <a:solidFill>
                  <a:srgbClr val="607383"/>
                </a:solidFill>
              </a:rPr>
              <a:t>Observation</a:t>
            </a:r>
            <a:endParaRPr lang="en-US" sz="950" dirty="0"/>
          </a:p>
        </p:txBody>
      </p:sp>
      <p:sp>
        <p:nvSpPr>
          <p:cNvPr id="15" name="Shape 13"/>
          <p:cNvSpPr/>
          <p:nvPr/>
        </p:nvSpPr>
        <p:spPr>
          <a:xfrm>
            <a:off x="8321040" y="1901952"/>
            <a:ext cx="457200" cy="1"/>
          </a:xfrm>
          <a:prstGeom prst="line">
            <a:avLst/>
          </a:prstGeom>
          <a:noFill/>
          <a:ln w="25400">
            <a:solidFill>
              <a:srgbClr val="0B2437"/>
            </a:solidFill>
            <a:prstDash val="solid"/>
            <a:tailEnd type="triangle"/>
          </a:ln>
        </p:spPr>
      </p:sp>
      <p:sp>
        <p:nvSpPr>
          <p:cNvPr id="16" name="Shape 14"/>
          <p:cNvSpPr/>
          <p:nvPr/>
        </p:nvSpPr>
        <p:spPr>
          <a:xfrm>
            <a:off x="8778240" y="1481328"/>
            <a:ext cx="2240280" cy="868680"/>
          </a:xfrm>
          <a:prstGeom prst="roundRect">
            <a:avLst>
              <a:gd name="adj" fmla="val 6316"/>
            </a:avLst>
          </a:prstGeom>
          <a:solidFill>
            <a:srgbClr val="FFFFFF"/>
          </a:solidFill>
          <a:ln w="12700">
            <a:solidFill>
              <a:srgbClr val="C9D5DE"/>
            </a:solidFill>
            <a:prstDash val="solid"/>
          </a:ln>
          <a:effectLst/>
        </p:spPr>
      </p:sp>
      <p:sp>
        <p:nvSpPr>
          <p:cNvPr id="17" name="Text 15"/>
          <p:cNvSpPr/>
          <p:nvPr/>
        </p:nvSpPr>
        <p:spPr>
          <a:xfrm>
            <a:off x="8887968" y="1664208"/>
            <a:ext cx="2020824" cy="201168"/>
          </a:xfrm>
          <a:prstGeom prst="rect">
            <a:avLst/>
          </a:prstGeom>
          <a:noFill/>
          <a:ln/>
        </p:spPr>
        <p:txBody>
          <a:bodyPr wrap="square" lIns="0" tIns="0" rIns="0" bIns="0" rtlCol="0" anchor="ctr"/>
          <a:lstStyle/>
          <a:p>
            <a:pPr marL="0" indent="0" algn="ctr">
              <a:buNone/>
            </a:pPr>
            <a:r>
              <a:rPr lang="en-US" sz="1400" b="1" dirty="0">
                <a:solidFill>
                  <a:srgbClr val="0B2437"/>
                </a:solidFill>
              </a:rPr>
              <a:t>Décision</a:t>
            </a:r>
            <a:endParaRPr lang="en-US" sz="1400" dirty="0"/>
          </a:p>
        </p:txBody>
      </p:sp>
      <p:sp>
        <p:nvSpPr>
          <p:cNvPr id="18" name="Text 16"/>
          <p:cNvSpPr/>
          <p:nvPr/>
        </p:nvSpPr>
        <p:spPr>
          <a:xfrm>
            <a:off x="8887968" y="1993392"/>
            <a:ext cx="2020824" cy="164592"/>
          </a:xfrm>
          <a:prstGeom prst="rect">
            <a:avLst/>
          </a:prstGeom>
          <a:noFill/>
          <a:ln/>
        </p:spPr>
        <p:txBody>
          <a:bodyPr wrap="square" lIns="0" tIns="0" rIns="0" bIns="0" rtlCol="0" anchor="ctr"/>
          <a:lstStyle/>
          <a:p>
            <a:pPr marL="0" indent="0" algn="ctr">
              <a:buNone/>
            </a:pPr>
            <a:r>
              <a:rPr lang="en-US" sz="950" dirty="0">
                <a:solidFill>
                  <a:srgbClr val="607383"/>
                </a:solidFill>
              </a:rPr>
              <a:t>Généraliser ou arrêter</a:t>
            </a:r>
            <a:endParaRPr lang="en-US" sz="950" dirty="0"/>
          </a:p>
        </p:txBody>
      </p:sp>
      <p:sp>
        <p:nvSpPr>
          <p:cNvPr id="19" name="Shape 17"/>
          <p:cNvSpPr/>
          <p:nvPr/>
        </p:nvSpPr>
        <p:spPr>
          <a:xfrm>
            <a:off x="685800" y="2852928"/>
            <a:ext cx="3273552" cy="1965960"/>
          </a:xfrm>
          <a:prstGeom prst="roundRect">
            <a:avLst>
              <a:gd name="adj" fmla="val 3721"/>
            </a:avLst>
          </a:prstGeom>
          <a:solidFill>
            <a:srgbClr val="FFFFFF"/>
          </a:solidFill>
          <a:ln w="12700">
            <a:solidFill>
              <a:srgbClr val="D9E3EA"/>
            </a:solidFill>
            <a:prstDash val="solid"/>
          </a:ln>
          <a:effectLst/>
        </p:spPr>
      </p:sp>
      <p:sp>
        <p:nvSpPr>
          <p:cNvPr id="20" name="Shape 18"/>
          <p:cNvSpPr/>
          <p:nvPr/>
        </p:nvSpPr>
        <p:spPr>
          <a:xfrm>
            <a:off x="685800" y="2852928"/>
            <a:ext cx="73152" cy="1965960"/>
          </a:xfrm>
          <a:prstGeom prst="rect">
            <a:avLst/>
          </a:prstGeom>
          <a:solidFill>
            <a:srgbClr val="00A6B2"/>
          </a:solidFill>
          <a:ln w="12700">
            <a:solidFill>
              <a:srgbClr val="00A6B2"/>
            </a:solidFill>
            <a:prstDash val="solid"/>
          </a:ln>
        </p:spPr>
      </p:sp>
      <p:sp>
        <p:nvSpPr>
          <p:cNvPr id="21" name="Text 19"/>
          <p:cNvSpPr/>
          <p:nvPr/>
        </p:nvSpPr>
        <p:spPr>
          <a:xfrm>
            <a:off x="905256" y="3017520"/>
            <a:ext cx="2907792" cy="274320"/>
          </a:xfrm>
          <a:prstGeom prst="rect">
            <a:avLst/>
          </a:prstGeom>
          <a:noFill/>
          <a:ln/>
        </p:spPr>
        <p:txBody>
          <a:bodyPr wrap="square" lIns="0" tIns="0" rIns="0" bIns="0" rtlCol="0" anchor="ctr"/>
          <a:lstStyle/>
          <a:p>
            <a:pPr marL="0" indent="0">
              <a:buNone/>
            </a:pPr>
            <a:r>
              <a:rPr lang="en-US" sz="1500" b="1" dirty="0">
                <a:solidFill>
                  <a:srgbClr val="0B2437"/>
                </a:solidFill>
              </a:rPr>
              <a:t>KPI principal</a:t>
            </a:r>
            <a:endParaRPr lang="en-US" sz="1500" dirty="0"/>
          </a:p>
        </p:txBody>
      </p:sp>
      <p:sp>
        <p:nvSpPr>
          <p:cNvPr id="22" name="Text 20"/>
          <p:cNvSpPr/>
          <p:nvPr/>
        </p:nvSpPr>
        <p:spPr>
          <a:xfrm>
            <a:off x="905256" y="3456432"/>
            <a:ext cx="2907792" cy="1216152"/>
          </a:xfrm>
          <a:prstGeom prst="rect">
            <a:avLst/>
          </a:prstGeom>
          <a:noFill/>
          <a:ln/>
        </p:spPr>
        <p:txBody>
          <a:bodyPr wrap="square" lIns="254" tIns="254" rIns="254" bIns="254" rtlCol="0" anchor="t"/>
          <a:lstStyle/>
          <a:p>
            <a:pPr marL="0" indent="0">
              <a:buNone/>
            </a:pPr>
            <a:r>
              <a:rPr lang="en-US" sz="1150" dirty="0">
                <a:solidFill>
                  <a:srgbClr val="173042"/>
                </a:solidFill>
              </a:rPr>
              <a:t>Détecter au moins</a:t>
            </a:r>
            <a:endParaRPr lang="en-US" sz="1150" dirty="0"/>
          </a:p>
          <a:p>
            <a:pPr marL="0" indent="0">
              <a:buNone/>
            </a:pPr>
            <a:r>
              <a:rPr lang="en-US" sz="1150" dirty="0">
                <a:solidFill>
                  <a:srgbClr val="173042"/>
                </a:solidFill>
              </a:rPr>
              <a:t>70 % des pannes</a:t>
            </a:r>
            <a:endParaRPr lang="en-US" sz="1150" dirty="0"/>
          </a:p>
          <a:p>
            <a:pPr marL="0" indent="0">
              <a:buNone/>
            </a:pPr>
            <a:r>
              <a:rPr lang="en-US" sz="1150" dirty="0">
                <a:solidFill>
                  <a:srgbClr val="173042"/>
                </a:solidFill>
              </a:rPr>
              <a:t>48 h avant leur survenue.</a:t>
            </a:r>
            <a:endParaRPr lang="en-US" sz="1150" dirty="0"/>
          </a:p>
        </p:txBody>
      </p:sp>
      <p:sp>
        <p:nvSpPr>
          <p:cNvPr id="23" name="Shape 21"/>
          <p:cNvSpPr/>
          <p:nvPr/>
        </p:nvSpPr>
        <p:spPr>
          <a:xfrm>
            <a:off x="4462272" y="2852928"/>
            <a:ext cx="3273552" cy="1965960"/>
          </a:xfrm>
          <a:prstGeom prst="roundRect">
            <a:avLst>
              <a:gd name="adj" fmla="val 3721"/>
            </a:avLst>
          </a:prstGeom>
          <a:solidFill>
            <a:srgbClr val="FFFFFF"/>
          </a:solidFill>
          <a:ln w="12700">
            <a:solidFill>
              <a:srgbClr val="D9E3EA"/>
            </a:solidFill>
            <a:prstDash val="solid"/>
          </a:ln>
          <a:effectLst/>
        </p:spPr>
      </p:sp>
      <p:sp>
        <p:nvSpPr>
          <p:cNvPr id="24" name="Shape 22"/>
          <p:cNvSpPr/>
          <p:nvPr/>
        </p:nvSpPr>
        <p:spPr>
          <a:xfrm>
            <a:off x="4462272" y="2852928"/>
            <a:ext cx="73152" cy="1965960"/>
          </a:xfrm>
          <a:prstGeom prst="rect">
            <a:avLst/>
          </a:prstGeom>
          <a:solidFill>
            <a:srgbClr val="F6A623"/>
          </a:solidFill>
          <a:ln w="12700">
            <a:solidFill>
              <a:srgbClr val="F6A623"/>
            </a:solidFill>
            <a:prstDash val="solid"/>
          </a:ln>
        </p:spPr>
      </p:sp>
      <p:sp>
        <p:nvSpPr>
          <p:cNvPr id="25" name="Text 23"/>
          <p:cNvSpPr/>
          <p:nvPr/>
        </p:nvSpPr>
        <p:spPr>
          <a:xfrm>
            <a:off x="4681728" y="3017520"/>
            <a:ext cx="2907792" cy="274320"/>
          </a:xfrm>
          <a:prstGeom prst="rect">
            <a:avLst/>
          </a:prstGeom>
          <a:noFill/>
          <a:ln/>
        </p:spPr>
        <p:txBody>
          <a:bodyPr wrap="square" lIns="0" tIns="0" rIns="0" bIns="0" rtlCol="0" anchor="ctr"/>
          <a:lstStyle/>
          <a:p>
            <a:pPr marL="0" indent="0">
              <a:buNone/>
            </a:pPr>
            <a:r>
              <a:rPr lang="en-US" sz="1500" b="1" dirty="0">
                <a:solidFill>
                  <a:srgbClr val="0B2437"/>
                </a:solidFill>
              </a:rPr>
              <a:t>Mesures complémentaires</a:t>
            </a:r>
            <a:endParaRPr lang="en-US" sz="1500" dirty="0"/>
          </a:p>
        </p:txBody>
      </p:sp>
      <p:sp>
        <p:nvSpPr>
          <p:cNvPr id="26" name="Text 24"/>
          <p:cNvSpPr/>
          <p:nvPr/>
        </p:nvSpPr>
        <p:spPr>
          <a:xfrm>
            <a:off x="4681728" y="3456432"/>
            <a:ext cx="2907792" cy="1216152"/>
          </a:xfrm>
          <a:prstGeom prst="rect">
            <a:avLst/>
          </a:prstGeom>
          <a:noFill/>
          <a:ln/>
        </p:spPr>
        <p:txBody>
          <a:bodyPr wrap="square" lIns="254" tIns="254" rIns="254" bIns="254" rtlCol="0" anchor="t"/>
          <a:lstStyle/>
          <a:p>
            <a:pPr marL="0" indent="0">
              <a:buNone/>
            </a:pPr>
            <a:r>
              <a:rPr lang="en-US" sz="1150" dirty="0">
                <a:solidFill>
                  <a:srgbClr val="173042"/>
                </a:solidFill>
              </a:rPr>
              <a:t>• Fausses alertes</a:t>
            </a:r>
            <a:endParaRPr lang="en-US" sz="1150" dirty="0"/>
          </a:p>
          <a:p>
            <a:pPr marL="0" indent="0">
              <a:buNone/>
            </a:pPr>
            <a:r>
              <a:rPr lang="en-US" sz="1150" dirty="0">
                <a:solidFill>
                  <a:srgbClr val="173042"/>
                </a:solidFill>
              </a:rPr>
              <a:t>• Préavis réel</a:t>
            </a:r>
            <a:endParaRPr lang="en-US" sz="1150" dirty="0"/>
          </a:p>
          <a:p>
            <a:pPr marL="0" indent="0">
              <a:buNone/>
            </a:pPr>
            <a:r>
              <a:rPr lang="en-US" sz="1150" dirty="0">
                <a:solidFill>
                  <a:srgbClr val="173042"/>
                </a:solidFill>
              </a:rPr>
              <a:t>• Arrêts évités</a:t>
            </a:r>
            <a:endParaRPr lang="en-US" sz="1150" dirty="0"/>
          </a:p>
          <a:p>
            <a:pPr marL="0" indent="0">
              <a:buNone/>
            </a:pPr>
            <a:r>
              <a:rPr lang="en-US" sz="1150" dirty="0">
                <a:solidFill>
                  <a:srgbClr val="173042"/>
                </a:solidFill>
              </a:rPr>
              <a:t>• Coûts évités</a:t>
            </a:r>
            <a:endParaRPr lang="en-US" sz="1150" dirty="0"/>
          </a:p>
          <a:p>
            <a:pPr marL="0" indent="0">
              <a:buNone/>
            </a:pPr>
            <a:r>
              <a:rPr lang="en-US" sz="1150" dirty="0">
                <a:solidFill>
                  <a:srgbClr val="173042"/>
                </a:solidFill>
              </a:rPr>
              <a:t>• Charge pour les équipes</a:t>
            </a:r>
            <a:endParaRPr lang="en-US" sz="1150" dirty="0"/>
          </a:p>
        </p:txBody>
      </p:sp>
      <p:sp>
        <p:nvSpPr>
          <p:cNvPr id="27" name="Shape 25"/>
          <p:cNvSpPr/>
          <p:nvPr/>
        </p:nvSpPr>
        <p:spPr>
          <a:xfrm>
            <a:off x="8229600" y="2852928"/>
            <a:ext cx="3273552" cy="1965960"/>
          </a:xfrm>
          <a:prstGeom prst="roundRect">
            <a:avLst>
              <a:gd name="adj" fmla="val 3721"/>
            </a:avLst>
          </a:prstGeom>
          <a:solidFill>
            <a:srgbClr val="FFFFFF"/>
          </a:solidFill>
          <a:ln w="12700">
            <a:solidFill>
              <a:srgbClr val="D9E3EA"/>
            </a:solidFill>
            <a:prstDash val="solid"/>
          </a:ln>
          <a:effectLst/>
        </p:spPr>
      </p:sp>
      <p:sp>
        <p:nvSpPr>
          <p:cNvPr id="28" name="Shape 26"/>
          <p:cNvSpPr/>
          <p:nvPr/>
        </p:nvSpPr>
        <p:spPr>
          <a:xfrm>
            <a:off x="8229600" y="2852928"/>
            <a:ext cx="73152" cy="1965960"/>
          </a:xfrm>
          <a:prstGeom prst="rect">
            <a:avLst/>
          </a:prstGeom>
          <a:solidFill>
            <a:srgbClr val="D64545"/>
          </a:solidFill>
          <a:ln w="12700">
            <a:solidFill>
              <a:srgbClr val="D64545"/>
            </a:solidFill>
            <a:prstDash val="solid"/>
          </a:ln>
        </p:spPr>
      </p:sp>
      <p:sp>
        <p:nvSpPr>
          <p:cNvPr id="29" name="Text 27"/>
          <p:cNvSpPr/>
          <p:nvPr/>
        </p:nvSpPr>
        <p:spPr>
          <a:xfrm>
            <a:off x="8449056" y="3017520"/>
            <a:ext cx="2907792" cy="274320"/>
          </a:xfrm>
          <a:prstGeom prst="rect">
            <a:avLst/>
          </a:prstGeom>
          <a:noFill/>
          <a:ln/>
        </p:spPr>
        <p:txBody>
          <a:bodyPr wrap="square" lIns="0" tIns="0" rIns="0" bIns="0" rtlCol="0" anchor="ctr"/>
          <a:lstStyle/>
          <a:p>
            <a:pPr marL="0" indent="0">
              <a:buNone/>
            </a:pPr>
            <a:r>
              <a:rPr lang="en-US" sz="1500" b="1" dirty="0">
                <a:solidFill>
                  <a:srgbClr val="0B2437"/>
                </a:solidFill>
              </a:rPr>
              <a:t>Limite statistique</a:t>
            </a:r>
            <a:endParaRPr lang="en-US" sz="1500" dirty="0"/>
          </a:p>
        </p:txBody>
      </p:sp>
      <p:sp>
        <p:nvSpPr>
          <p:cNvPr id="30" name="Text 28"/>
          <p:cNvSpPr/>
          <p:nvPr/>
        </p:nvSpPr>
        <p:spPr>
          <a:xfrm>
            <a:off x="8449056" y="3456432"/>
            <a:ext cx="2907792" cy="1216152"/>
          </a:xfrm>
          <a:prstGeom prst="rect">
            <a:avLst/>
          </a:prstGeom>
          <a:noFill/>
          <a:ln/>
        </p:spPr>
        <p:txBody>
          <a:bodyPr wrap="square" lIns="254" tIns="254" rIns="254" bIns="254" rtlCol="0" anchor="t"/>
          <a:lstStyle/>
          <a:p>
            <a:pPr marL="0" indent="0">
              <a:buNone/>
            </a:pPr>
            <a:r>
              <a:rPr lang="en-US" sz="1150" dirty="0">
                <a:solidFill>
                  <a:srgbClr val="173042"/>
                </a:solidFill>
              </a:rPr>
              <a:t>≈ 50 pannes sur 2 ans : les résultats peuvent varier fortement selon quelques incidents. Aucun seuil minimal ne doit être inventé.</a:t>
            </a:r>
            <a:endParaRPr lang="en-US" sz="1150" dirty="0"/>
          </a:p>
        </p:txBody>
      </p:sp>
      <p:sp>
        <p:nvSpPr>
          <p:cNvPr id="31" name="Shape 29"/>
          <p:cNvSpPr/>
          <p:nvPr/>
        </p:nvSpPr>
        <p:spPr>
          <a:xfrm>
            <a:off x="685800" y="5266944"/>
            <a:ext cx="10817352" cy="713232"/>
          </a:xfrm>
          <a:prstGeom prst="roundRect">
            <a:avLst>
              <a:gd name="adj" fmla="val 7692"/>
            </a:avLst>
          </a:prstGeom>
          <a:solidFill>
            <a:srgbClr val="0B2437"/>
          </a:solidFill>
          <a:ln w="12700">
            <a:solidFill>
              <a:srgbClr val="0B2437"/>
            </a:solidFill>
            <a:prstDash val="solid"/>
          </a:ln>
        </p:spPr>
      </p:sp>
      <p:sp>
        <p:nvSpPr>
          <p:cNvPr id="32" name="Text 30"/>
          <p:cNvSpPr/>
          <p:nvPr/>
        </p:nvSpPr>
        <p:spPr>
          <a:xfrm>
            <a:off x="914400" y="5477256"/>
            <a:ext cx="10351008" cy="274320"/>
          </a:xfrm>
          <a:prstGeom prst="rect">
            <a:avLst/>
          </a:prstGeom>
          <a:noFill/>
          <a:ln/>
        </p:spPr>
        <p:txBody>
          <a:bodyPr wrap="square" lIns="0" tIns="0" rIns="0" bIns="0" rtlCol="0" anchor="ctr"/>
          <a:lstStyle/>
          <a:p>
            <a:pPr marL="0" indent="0" algn="ctr">
              <a:buNone/>
            </a:pPr>
            <a:r>
              <a:rPr lang="en-US" sz="1300" b="1" dirty="0">
                <a:solidFill>
                  <a:srgbClr val="FFFFFF"/>
                </a:solidFill>
              </a:rPr>
              <a:t>Méthode de mesure : comparer les alertes émises à la date et à l’heure des pannes enregistrées dans le journal de maintenance.</a:t>
            </a:r>
            <a:endParaRPr lang="en-US" sz="1300" dirty="0"/>
          </a:p>
        </p:txBody>
      </p:sp>
      <p:sp>
        <p:nvSpPr>
          <p:cNvPr id="33" name="Slide Number Placeholder 0"/>
          <p:cNvSpPr>
            <a:spLocks noGrp="1"/>
          </p:cNvSpPr>
          <p:nvPr>
            <p:ph type="sldNum" sz="quarter" idx="4294967295"/>
          </p:nvPr>
        </p:nvSpPr>
        <p:spPr>
          <a:xfrm>
            <a:off x="11722608" y="6528816"/>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78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66928" y="384048"/>
            <a:ext cx="10881360" cy="475488"/>
          </a:xfrm>
          <a:prstGeom prst="rect">
            <a:avLst/>
          </a:prstGeom>
          <a:noFill/>
          <a:ln/>
        </p:spPr>
        <p:txBody>
          <a:bodyPr wrap="square" lIns="0" tIns="0" rIns="0" bIns="0" rtlCol="0" anchor="ctr"/>
          <a:lstStyle/>
          <a:p>
            <a:pPr marL="0" indent="0">
              <a:buNone/>
            </a:pPr>
            <a:r>
              <a:rPr lang="en-US" sz="2800" b="1" dirty="0">
                <a:solidFill>
                  <a:srgbClr val="0B2437"/>
                </a:solidFill>
                <a:latin typeface="Aptos Display" pitchFamily="34" charset="0"/>
                <a:ea typeface="Aptos Display" pitchFamily="34" charset="-122"/>
                <a:cs typeface="Aptos Display" pitchFamily="34" charset="-120"/>
              </a:rPr>
              <a:t>6. Sécurité et exploitation</a:t>
            </a:r>
            <a:endParaRPr lang="en-US" sz="2800" dirty="0"/>
          </a:p>
        </p:txBody>
      </p:sp>
      <p:sp>
        <p:nvSpPr>
          <p:cNvPr id="3" name="Text 1"/>
          <p:cNvSpPr/>
          <p:nvPr/>
        </p:nvSpPr>
        <p:spPr>
          <a:xfrm>
            <a:off x="594360" y="896112"/>
            <a:ext cx="10652760" cy="320040"/>
          </a:xfrm>
          <a:prstGeom prst="rect">
            <a:avLst/>
          </a:prstGeom>
          <a:noFill/>
          <a:ln/>
        </p:spPr>
        <p:txBody>
          <a:bodyPr wrap="square" lIns="0" tIns="0" rIns="0" bIns="0" rtlCol="0" anchor="ctr"/>
          <a:lstStyle/>
          <a:p>
            <a:pPr marL="0" indent="0">
              <a:buNone/>
            </a:pPr>
            <a:r>
              <a:rPr lang="en-US" sz="1200" dirty="0">
                <a:solidFill>
                  <a:srgbClr val="607383"/>
                </a:solidFill>
              </a:rPr>
              <a:t>Le seuil de 90 % n’est pas une garantie de sûreté</a:t>
            </a:r>
            <a:endParaRPr lang="en-US" sz="1200" dirty="0"/>
          </a:p>
        </p:txBody>
      </p:sp>
      <p:sp>
        <p:nvSpPr>
          <p:cNvPr id="4" name="Shape 2"/>
          <p:cNvSpPr/>
          <p:nvPr/>
        </p:nvSpPr>
        <p:spPr>
          <a:xfrm>
            <a:off x="640080" y="1371600"/>
            <a:ext cx="3493008" cy="2057400"/>
          </a:xfrm>
          <a:prstGeom prst="roundRect">
            <a:avLst>
              <a:gd name="adj" fmla="val 3556"/>
            </a:avLst>
          </a:prstGeom>
          <a:solidFill>
            <a:srgbClr val="FFFFFF"/>
          </a:solidFill>
          <a:ln w="12700">
            <a:solidFill>
              <a:srgbClr val="D9E3EA"/>
            </a:solidFill>
            <a:prstDash val="solid"/>
          </a:ln>
          <a:effectLst/>
        </p:spPr>
      </p:sp>
      <p:sp>
        <p:nvSpPr>
          <p:cNvPr id="5" name="Shape 3"/>
          <p:cNvSpPr/>
          <p:nvPr/>
        </p:nvSpPr>
        <p:spPr>
          <a:xfrm>
            <a:off x="640080" y="1371600"/>
            <a:ext cx="73152" cy="2057400"/>
          </a:xfrm>
          <a:prstGeom prst="rect">
            <a:avLst/>
          </a:prstGeom>
          <a:solidFill>
            <a:srgbClr val="D64545"/>
          </a:solidFill>
          <a:ln w="12700">
            <a:solidFill>
              <a:srgbClr val="D64545"/>
            </a:solidFill>
            <a:prstDash val="solid"/>
          </a:ln>
        </p:spPr>
      </p:sp>
      <p:sp>
        <p:nvSpPr>
          <p:cNvPr id="6" name="Text 4"/>
          <p:cNvSpPr/>
          <p:nvPr/>
        </p:nvSpPr>
        <p:spPr>
          <a:xfrm>
            <a:off x="859536" y="1536192"/>
            <a:ext cx="3127248" cy="274320"/>
          </a:xfrm>
          <a:prstGeom prst="rect">
            <a:avLst/>
          </a:prstGeom>
          <a:noFill/>
          <a:ln/>
        </p:spPr>
        <p:txBody>
          <a:bodyPr wrap="square" lIns="0" tIns="0" rIns="0" bIns="0" rtlCol="0" anchor="ctr"/>
          <a:lstStyle/>
          <a:p>
            <a:pPr marL="0" indent="0">
              <a:buNone/>
            </a:pPr>
            <a:r>
              <a:rPr lang="en-US" sz="1500" b="1" dirty="0">
                <a:solidFill>
                  <a:srgbClr val="0B2437"/>
                </a:solidFill>
              </a:rPr>
              <a:t>Risque 1 • Faux positif</a:t>
            </a:r>
            <a:endParaRPr lang="en-US" sz="1500" dirty="0"/>
          </a:p>
        </p:txBody>
      </p:sp>
      <p:sp>
        <p:nvSpPr>
          <p:cNvPr id="7" name="Text 5"/>
          <p:cNvSpPr/>
          <p:nvPr/>
        </p:nvSpPr>
        <p:spPr>
          <a:xfrm>
            <a:off x="859536" y="1975104"/>
            <a:ext cx="3127248" cy="1307592"/>
          </a:xfrm>
          <a:prstGeom prst="rect">
            <a:avLst/>
          </a:prstGeom>
          <a:noFill/>
          <a:ln/>
        </p:spPr>
        <p:txBody>
          <a:bodyPr wrap="square" lIns="254" tIns="254" rIns="254" bIns="254" rtlCol="0" anchor="t"/>
          <a:lstStyle/>
          <a:p>
            <a:pPr marL="0" indent="0">
              <a:buNone/>
            </a:pPr>
            <a:r>
              <a:rPr lang="en-US" sz="1150" dirty="0">
                <a:solidFill>
                  <a:srgbClr val="173042"/>
                </a:solidFill>
              </a:rPr>
              <a:t>Un arrêt automatique injustifié peut interrompre la production, immobiliser un bain et créer un coût évitable.</a:t>
            </a:r>
            <a:endParaRPr lang="en-US" sz="1150" dirty="0"/>
          </a:p>
        </p:txBody>
      </p:sp>
      <p:sp>
        <p:nvSpPr>
          <p:cNvPr id="8" name="Shape 6"/>
          <p:cNvSpPr/>
          <p:nvPr/>
        </p:nvSpPr>
        <p:spPr>
          <a:xfrm>
            <a:off x="4343400" y="1371600"/>
            <a:ext cx="3493008" cy="2057400"/>
          </a:xfrm>
          <a:prstGeom prst="roundRect">
            <a:avLst>
              <a:gd name="adj" fmla="val 3556"/>
            </a:avLst>
          </a:prstGeom>
          <a:solidFill>
            <a:srgbClr val="FFFFFF"/>
          </a:solidFill>
          <a:ln w="12700">
            <a:solidFill>
              <a:srgbClr val="D9E3EA"/>
            </a:solidFill>
            <a:prstDash val="solid"/>
          </a:ln>
          <a:effectLst/>
        </p:spPr>
      </p:sp>
      <p:sp>
        <p:nvSpPr>
          <p:cNvPr id="9" name="Shape 7"/>
          <p:cNvSpPr/>
          <p:nvPr/>
        </p:nvSpPr>
        <p:spPr>
          <a:xfrm>
            <a:off x="4343400" y="1371600"/>
            <a:ext cx="73152" cy="2057400"/>
          </a:xfrm>
          <a:prstGeom prst="rect">
            <a:avLst/>
          </a:prstGeom>
          <a:solidFill>
            <a:srgbClr val="D64545"/>
          </a:solidFill>
          <a:ln w="12700">
            <a:solidFill>
              <a:srgbClr val="D64545"/>
            </a:solidFill>
            <a:prstDash val="solid"/>
          </a:ln>
        </p:spPr>
      </p:sp>
      <p:sp>
        <p:nvSpPr>
          <p:cNvPr id="10" name="Text 8"/>
          <p:cNvSpPr/>
          <p:nvPr/>
        </p:nvSpPr>
        <p:spPr>
          <a:xfrm>
            <a:off x="4562856" y="1536192"/>
            <a:ext cx="3127248" cy="274320"/>
          </a:xfrm>
          <a:prstGeom prst="rect">
            <a:avLst/>
          </a:prstGeom>
          <a:noFill/>
          <a:ln/>
        </p:spPr>
        <p:txBody>
          <a:bodyPr wrap="square" lIns="0" tIns="0" rIns="0" bIns="0" rtlCol="0" anchor="ctr"/>
          <a:lstStyle/>
          <a:p>
            <a:pPr marL="0" indent="0">
              <a:buNone/>
            </a:pPr>
            <a:r>
              <a:rPr lang="en-US" sz="1500" b="1" dirty="0">
                <a:solidFill>
                  <a:srgbClr val="0B2437"/>
                </a:solidFill>
              </a:rPr>
              <a:t>Risque 2 • Faux négatif</a:t>
            </a:r>
            <a:endParaRPr lang="en-US" sz="1500" dirty="0"/>
          </a:p>
        </p:txBody>
      </p:sp>
      <p:sp>
        <p:nvSpPr>
          <p:cNvPr id="11" name="Text 9"/>
          <p:cNvSpPr/>
          <p:nvPr/>
        </p:nvSpPr>
        <p:spPr>
          <a:xfrm>
            <a:off x="4562856" y="1975104"/>
            <a:ext cx="3127248" cy="1307592"/>
          </a:xfrm>
          <a:prstGeom prst="rect">
            <a:avLst/>
          </a:prstGeom>
          <a:noFill/>
          <a:ln/>
        </p:spPr>
        <p:txBody>
          <a:bodyPr wrap="square" lIns="254" tIns="254" rIns="254" bIns="254" rtlCol="0" anchor="t"/>
          <a:lstStyle/>
          <a:p>
            <a:pPr marL="0" indent="0">
              <a:buNone/>
            </a:pPr>
            <a:r>
              <a:rPr lang="en-US" sz="1150" dirty="0">
                <a:solidFill>
                  <a:srgbClr val="173042"/>
                </a:solidFill>
              </a:rPr>
              <a:t>Une panne non détectée combinée à une baisse de vigilance des équipes peut dégrader la situation actuelle.</a:t>
            </a:r>
            <a:endParaRPr lang="en-US" sz="1150" dirty="0"/>
          </a:p>
        </p:txBody>
      </p:sp>
      <p:sp>
        <p:nvSpPr>
          <p:cNvPr id="12" name="Shape 10"/>
          <p:cNvSpPr/>
          <p:nvPr/>
        </p:nvSpPr>
        <p:spPr>
          <a:xfrm>
            <a:off x="8046720" y="1371600"/>
            <a:ext cx="3493008" cy="2057400"/>
          </a:xfrm>
          <a:prstGeom prst="roundRect">
            <a:avLst>
              <a:gd name="adj" fmla="val 3556"/>
            </a:avLst>
          </a:prstGeom>
          <a:solidFill>
            <a:srgbClr val="FFFFFF"/>
          </a:solidFill>
          <a:ln w="12700">
            <a:solidFill>
              <a:srgbClr val="D9E3EA"/>
            </a:solidFill>
            <a:prstDash val="solid"/>
          </a:ln>
          <a:effectLst/>
        </p:spPr>
      </p:sp>
      <p:sp>
        <p:nvSpPr>
          <p:cNvPr id="13" name="Shape 11"/>
          <p:cNvSpPr/>
          <p:nvPr/>
        </p:nvSpPr>
        <p:spPr>
          <a:xfrm>
            <a:off x="8046720" y="1371600"/>
            <a:ext cx="73152" cy="2057400"/>
          </a:xfrm>
          <a:prstGeom prst="rect">
            <a:avLst/>
          </a:prstGeom>
          <a:solidFill>
            <a:srgbClr val="D64545"/>
          </a:solidFill>
          <a:ln w="12700">
            <a:solidFill>
              <a:srgbClr val="D64545"/>
            </a:solidFill>
            <a:prstDash val="solid"/>
          </a:ln>
        </p:spPr>
      </p:sp>
      <p:sp>
        <p:nvSpPr>
          <p:cNvPr id="14" name="Text 12"/>
          <p:cNvSpPr/>
          <p:nvPr/>
        </p:nvSpPr>
        <p:spPr>
          <a:xfrm>
            <a:off x="8266176" y="1536192"/>
            <a:ext cx="3127248" cy="274320"/>
          </a:xfrm>
          <a:prstGeom prst="rect">
            <a:avLst/>
          </a:prstGeom>
          <a:noFill/>
          <a:ln/>
        </p:spPr>
        <p:txBody>
          <a:bodyPr wrap="square" lIns="0" tIns="0" rIns="0" bIns="0" rtlCol="0" anchor="ctr"/>
          <a:lstStyle/>
          <a:p>
            <a:pPr marL="0" indent="0">
              <a:buNone/>
            </a:pPr>
            <a:r>
              <a:rPr lang="en-US" sz="1500" b="1" dirty="0">
                <a:solidFill>
                  <a:srgbClr val="0B2437"/>
                </a:solidFill>
              </a:rPr>
              <a:t>Risque 3 • Cyber / OT</a:t>
            </a:r>
            <a:endParaRPr lang="en-US" sz="1500" dirty="0"/>
          </a:p>
        </p:txBody>
      </p:sp>
      <p:sp>
        <p:nvSpPr>
          <p:cNvPr id="15" name="Text 13"/>
          <p:cNvSpPr/>
          <p:nvPr/>
        </p:nvSpPr>
        <p:spPr>
          <a:xfrm>
            <a:off x="8266176" y="1975104"/>
            <a:ext cx="3127248" cy="1307592"/>
          </a:xfrm>
          <a:prstGeom prst="rect">
            <a:avLst/>
          </a:prstGeom>
          <a:noFill/>
          <a:ln/>
        </p:spPr>
        <p:txBody>
          <a:bodyPr wrap="square" lIns="254" tIns="254" rIns="254" bIns="254" rtlCol="0" anchor="t"/>
          <a:lstStyle/>
          <a:p>
            <a:pPr marL="0" indent="0">
              <a:buNone/>
            </a:pPr>
            <a:r>
              <a:rPr lang="en-US" sz="1150" dirty="0">
                <a:solidFill>
                  <a:srgbClr val="173042"/>
                </a:solidFill>
              </a:rPr>
              <a:t>Toute commande vers le procédé crée une nouvelle surface de risque dans un atelier volontairement isolé.</a:t>
            </a:r>
            <a:endParaRPr lang="en-US" sz="1150" dirty="0"/>
          </a:p>
        </p:txBody>
      </p:sp>
      <p:sp>
        <p:nvSpPr>
          <p:cNvPr id="16" name="Text 14"/>
          <p:cNvSpPr/>
          <p:nvPr/>
        </p:nvSpPr>
        <p:spPr>
          <a:xfrm>
            <a:off x="685800" y="3822192"/>
            <a:ext cx="4892040" cy="320040"/>
          </a:xfrm>
          <a:prstGeom prst="rect">
            <a:avLst/>
          </a:prstGeom>
          <a:noFill/>
          <a:ln/>
        </p:spPr>
        <p:txBody>
          <a:bodyPr wrap="square" lIns="0" tIns="0" rIns="0" bIns="0" rtlCol="0" anchor="ctr"/>
          <a:lstStyle/>
          <a:p>
            <a:pPr marL="0" indent="0">
              <a:buNone/>
            </a:pPr>
            <a:r>
              <a:rPr lang="en-US" sz="1700" b="1" dirty="0">
                <a:solidFill>
                  <a:srgbClr val="0B2437"/>
                </a:solidFill>
              </a:rPr>
              <a:t>Conditions minimales avant toute commande réelle</a:t>
            </a:r>
            <a:endParaRPr lang="en-US" sz="1700" dirty="0"/>
          </a:p>
        </p:txBody>
      </p:sp>
      <p:sp>
        <p:nvSpPr>
          <p:cNvPr id="17" name="Shape 15"/>
          <p:cNvSpPr/>
          <p:nvPr/>
        </p:nvSpPr>
        <p:spPr>
          <a:xfrm>
            <a:off x="713232" y="4343400"/>
            <a:ext cx="219456" cy="219456"/>
          </a:xfrm>
          <a:prstGeom prst="ellipse">
            <a:avLst/>
          </a:prstGeom>
          <a:solidFill>
            <a:srgbClr val="00A6B2"/>
          </a:solidFill>
          <a:ln w="12700">
            <a:solidFill>
              <a:srgbClr val="00A6B2"/>
            </a:solidFill>
            <a:prstDash val="solid"/>
          </a:ln>
        </p:spPr>
      </p:sp>
      <p:sp>
        <p:nvSpPr>
          <p:cNvPr id="18" name="Text 16"/>
          <p:cNvSpPr/>
          <p:nvPr/>
        </p:nvSpPr>
        <p:spPr>
          <a:xfrm>
            <a:off x="1060704" y="4334256"/>
            <a:ext cx="4892040" cy="256032"/>
          </a:xfrm>
          <a:prstGeom prst="rect">
            <a:avLst/>
          </a:prstGeom>
          <a:noFill/>
          <a:ln/>
        </p:spPr>
        <p:txBody>
          <a:bodyPr wrap="square" lIns="0" tIns="0" rIns="0" bIns="0" rtlCol="0" anchor="ctr"/>
          <a:lstStyle/>
          <a:p>
            <a:pPr marL="0" indent="0">
              <a:buNone/>
            </a:pPr>
            <a:r>
              <a:rPr lang="en-US" sz="1200" dirty="0">
                <a:solidFill>
                  <a:srgbClr val="173042"/>
                </a:solidFill>
              </a:rPr>
              <a:t>Probabilité correctement calibrée</a:t>
            </a:r>
            <a:endParaRPr lang="en-US" sz="1200" dirty="0"/>
          </a:p>
        </p:txBody>
      </p:sp>
      <p:sp>
        <p:nvSpPr>
          <p:cNvPr id="19" name="Shape 17"/>
          <p:cNvSpPr/>
          <p:nvPr/>
        </p:nvSpPr>
        <p:spPr>
          <a:xfrm>
            <a:off x="713232" y="4818888"/>
            <a:ext cx="219456" cy="219456"/>
          </a:xfrm>
          <a:prstGeom prst="ellipse">
            <a:avLst/>
          </a:prstGeom>
          <a:solidFill>
            <a:srgbClr val="00A6B2"/>
          </a:solidFill>
          <a:ln w="12700">
            <a:solidFill>
              <a:srgbClr val="00A6B2"/>
            </a:solidFill>
            <a:prstDash val="solid"/>
          </a:ln>
        </p:spPr>
      </p:sp>
      <p:sp>
        <p:nvSpPr>
          <p:cNvPr id="20" name="Text 18"/>
          <p:cNvSpPr/>
          <p:nvPr/>
        </p:nvSpPr>
        <p:spPr>
          <a:xfrm>
            <a:off x="1060704" y="4809744"/>
            <a:ext cx="4892040" cy="256032"/>
          </a:xfrm>
          <a:prstGeom prst="rect">
            <a:avLst/>
          </a:prstGeom>
          <a:noFill/>
          <a:ln/>
        </p:spPr>
        <p:txBody>
          <a:bodyPr wrap="square" lIns="0" tIns="0" rIns="0" bIns="0" rtlCol="0" anchor="ctr"/>
          <a:lstStyle/>
          <a:p>
            <a:pPr marL="0" indent="0">
              <a:buNone/>
            </a:pPr>
            <a:r>
              <a:rPr lang="en-US" sz="1200" dirty="0">
                <a:solidFill>
                  <a:srgbClr val="173042"/>
                </a:solidFill>
              </a:rPr>
              <a:t>Données fiables et surveillées</a:t>
            </a:r>
            <a:endParaRPr lang="en-US" sz="1200" dirty="0"/>
          </a:p>
        </p:txBody>
      </p:sp>
      <p:sp>
        <p:nvSpPr>
          <p:cNvPr id="21" name="Shape 19"/>
          <p:cNvSpPr/>
          <p:nvPr/>
        </p:nvSpPr>
        <p:spPr>
          <a:xfrm>
            <a:off x="713232" y="5294376"/>
            <a:ext cx="219456" cy="219456"/>
          </a:xfrm>
          <a:prstGeom prst="ellipse">
            <a:avLst/>
          </a:prstGeom>
          <a:solidFill>
            <a:srgbClr val="00A6B2"/>
          </a:solidFill>
          <a:ln w="12700">
            <a:solidFill>
              <a:srgbClr val="00A6B2"/>
            </a:solidFill>
            <a:prstDash val="solid"/>
          </a:ln>
        </p:spPr>
      </p:sp>
      <p:sp>
        <p:nvSpPr>
          <p:cNvPr id="22" name="Text 20"/>
          <p:cNvSpPr/>
          <p:nvPr/>
        </p:nvSpPr>
        <p:spPr>
          <a:xfrm>
            <a:off x="1060704" y="5285232"/>
            <a:ext cx="4892040" cy="256032"/>
          </a:xfrm>
          <a:prstGeom prst="rect">
            <a:avLst/>
          </a:prstGeom>
          <a:noFill/>
          <a:ln/>
        </p:spPr>
        <p:txBody>
          <a:bodyPr wrap="square" lIns="0" tIns="0" rIns="0" bIns="0" rtlCol="0" anchor="ctr"/>
          <a:lstStyle/>
          <a:p>
            <a:pPr marL="0" indent="0">
              <a:buNone/>
            </a:pPr>
            <a:r>
              <a:rPr lang="en-US" sz="1200" dirty="0">
                <a:solidFill>
                  <a:srgbClr val="173042"/>
                </a:solidFill>
              </a:rPr>
              <a:t>Logique de sûreté indépendante</a:t>
            </a:r>
            <a:endParaRPr lang="en-US" sz="1200" dirty="0"/>
          </a:p>
        </p:txBody>
      </p:sp>
      <p:sp>
        <p:nvSpPr>
          <p:cNvPr id="23" name="Shape 21"/>
          <p:cNvSpPr/>
          <p:nvPr/>
        </p:nvSpPr>
        <p:spPr>
          <a:xfrm>
            <a:off x="6199632" y="4343400"/>
            <a:ext cx="219456" cy="219456"/>
          </a:xfrm>
          <a:prstGeom prst="ellipse">
            <a:avLst/>
          </a:prstGeom>
          <a:solidFill>
            <a:srgbClr val="00A6B2"/>
          </a:solidFill>
          <a:ln w="12700">
            <a:solidFill>
              <a:srgbClr val="00A6B2"/>
            </a:solidFill>
            <a:prstDash val="solid"/>
          </a:ln>
        </p:spPr>
      </p:sp>
      <p:sp>
        <p:nvSpPr>
          <p:cNvPr id="24" name="Text 22"/>
          <p:cNvSpPr/>
          <p:nvPr/>
        </p:nvSpPr>
        <p:spPr>
          <a:xfrm>
            <a:off x="6547104" y="4334256"/>
            <a:ext cx="4892040" cy="256032"/>
          </a:xfrm>
          <a:prstGeom prst="rect">
            <a:avLst/>
          </a:prstGeom>
          <a:noFill/>
          <a:ln/>
        </p:spPr>
        <p:txBody>
          <a:bodyPr wrap="square" lIns="0" tIns="0" rIns="0" bIns="0" rtlCol="0" anchor="ctr"/>
          <a:lstStyle/>
          <a:p>
            <a:pPr marL="0" indent="0">
              <a:buNone/>
            </a:pPr>
            <a:r>
              <a:rPr lang="en-US" sz="1200" dirty="0">
                <a:solidFill>
                  <a:srgbClr val="173042"/>
                </a:solidFill>
              </a:rPr>
              <a:t>Protections existantes maintenues</a:t>
            </a:r>
            <a:endParaRPr lang="en-US" sz="1200" dirty="0"/>
          </a:p>
        </p:txBody>
      </p:sp>
      <p:sp>
        <p:nvSpPr>
          <p:cNvPr id="25" name="Shape 23"/>
          <p:cNvSpPr/>
          <p:nvPr/>
        </p:nvSpPr>
        <p:spPr>
          <a:xfrm>
            <a:off x="6199632" y="4818888"/>
            <a:ext cx="219456" cy="219456"/>
          </a:xfrm>
          <a:prstGeom prst="ellipse">
            <a:avLst/>
          </a:prstGeom>
          <a:solidFill>
            <a:srgbClr val="00A6B2"/>
          </a:solidFill>
          <a:ln w="12700">
            <a:solidFill>
              <a:srgbClr val="00A6B2"/>
            </a:solidFill>
            <a:prstDash val="solid"/>
          </a:ln>
        </p:spPr>
      </p:sp>
      <p:sp>
        <p:nvSpPr>
          <p:cNvPr id="26" name="Text 24"/>
          <p:cNvSpPr/>
          <p:nvPr/>
        </p:nvSpPr>
        <p:spPr>
          <a:xfrm>
            <a:off x="6547104" y="4809744"/>
            <a:ext cx="4892040" cy="256032"/>
          </a:xfrm>
          <a:prstGeom prst="rect">
            <a:avLst/>
          </a:prstGeom>
          <a:noFill/>
          <a:ln/>
        </p:spPr>
        <p:txBody>
          <a:bodyPr wrap="square" lIns="0" tIns="0" rIns="0" bIns="0" rtlCol="0" anchor="ctr"/>
          <a:lstStyle/>
          <a:p>
            <a:pPr marL="0" indent="0">
              <a:buNone/>
            </a:pPr>
            <a:r>
              <a:rPr lang="en-US" sz="1200" dirty="0">
                <a:solidFill>
                  <a:srgbClr val="173042"/>
                </a:solidFill>
              </a:rPr>
              <a:t>Alerte humaine en cas de défaut</a:t>
            </a:r>
            <a:endParaRPr lang="en-US" sz="1200" dirty="0"/>
          </a:p>
        </p:txBody>
      </p:sp>
      <p:sp>
        <p:nvSpPr>
          <p:cNvPr id="27" name="Shape 25"/>
          <p:cNvSpPr/>
          <p:nvPr/>
        </p:nvSpPr>
        <p:spPr>
          <a:xfrm>
            <a:off x="6199632" y="5294376"/>
            <a:ext cx="219456" cy="219456"/>
          </a:xfrm>
          <a:prstGeom prst="ellipse">
            <a:avLst/>
          </a:prstGeom>
          <a:solidFill>
            <a:srgbClr val="00A6B2"/>
          </a:solidFill>
          <a:ln w="12700">
            <a:solidFill>
              <a:srgbClr val="00A6B2"/>
            </a:solidFill>
            <a:prstDash val="solid"/>
          </a:ln>
        </p:spPr>
      </p:sp>
      <p:sp>
        <p:nvSpPr>
          <p:cNvPr id="28" name="Text 26"/>
          <p:cNvSpPr/>
          <p:nvPr/>
        </p:nvSpPr>
        <p:spPr>
          <a:xfrm>
            <a:off x="6547104" y="5285232"/>
            <a:ext cx="4892040" cy="256032"/>
          </a:xfrm>
          <a:prstGeom prst="rect">
            <a:avLst/>
          </a:prstGeom>
          <a:noFill/>
          <a:ln/>
        </p:spPr>
        <p:txBody>
          <a:bodyPr wrap="square" lIns="0" tIns="0" rIns="0" bIns="0" rtlCol="0" anchor="ctr"/>
          <a:lstStyle/>
          <a:p>
            <a:pPr marL="0" indent="0">
              <a:buNone/>
            </a:pPr>
            <a:r>
              <a:rPr lang="en-US" sz="1200" dirty="0">
                <a:solidFill>
                  <a:srgbClr val="173042"/>
                </a:solidFill>
              </a:rPr>
              <a:t>Analyse de dangers + validation métier</a:t>
            </a:r>
            <a:endParaRPr lang="en-US" sz="1200" dirty="0"/>
          </a:p>
        </p:txBody>
      </p:sp>
      <p:sp>
        <p:nvSpPr>
          <p:cNvPr id="29" name="Shape 27"/>
          <p:cNvSpPr/>
          <p:nvPr/>
        </p:nvSpPr>
        <p:spPr>
          <a:xfrm>
            <a:off x="685800" y="5806440"/>
            <a:ext cx="10808208" cy="420624"/>
          </a:xfrm>
          <a:prstGeom prst="roundRect">
            <a:avLst>
              <a:gd name="adj" fmla="val 10870"/>
            </a:avLst>
          </a:prstGeom>
          <a:solidFill>
            <a:srgbClr val="FDECEC"/>
          </a:solidFill>
          <a:ln w="12700">
            <a:solidFill>
              <a:srgbClr val="F3B4B4"/>
            </a:solidFill>
            <a:prstDash val="solid"/>
          </a:ln>
        </p:spPr>
      </p:sp>
      <p:sp>
        <p:nvSpPr>
          <p:cNvPr id="30" name="Text 28"/>
          <p:cNvSpPr/>
          <p:nvPr/>
        </p:nvSpPr>
        <p:spPr>
          <a:xfrm>
            <a:off x="914400" y="5925312"/>
            <a:ext cx="10332720" cy="182880"/>
          </a:xfrm>
          <a:prstGeom prst="rect">
            <a:avLst/>
          </a:prstGeom>
          <a:noFill/>
          <a:ln/>
        </p:spPr>
        <p:txBody>
          <a:bodyPr wrap="square" lIns="0" tIns="0" rIns="0" bIns="0" rtlCol="0" anchor="ctr"/>
          <a:lstStyle/>
          <a:p>
            <a:pPr marL="0" indent="0" algn="ctr">
              <a:buNone/>
            </a:pPr>
            <a:r>
              <a:rPr lang="en-US" sz="1250" b="1" dirty="0">
                <a:solidFill>
                  <a:srgbClr val="D64545"/>
                </a:solidFill>
              </a:rPr>
              <a:t>Décision : aucune commande automatique pendant le pilote. L’arrêt nocturne reste une cible étudiée, pas une fonction activée.</a:t>
            </a:r>
            <a:endParaRPr lang="en-US" sz="1250" dirty="0"/>
          </a:p>
        </p:txBody>
      </p:sp>
      <p:sp>
        <p:nvSpPr>
          <p:cNvPr id="31" name="Slide Number Placeholder 0"/>
          <p:cNvSpPr>
            <a:spLocks noGrp="1"/>
          </p:cNvSpPr>
          <p:nvPr>
            <p:ph type="sldNum" sz="quarter" idx="4294967295"/>
          </p:nvPr>
        </p:nvSpPr>
        <p:spPr>
          <a:xfrm>
            <a:off x="11722608" y="6528816"/>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78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66928" y="384048"/>
            <a:ext cx="10881360" cy="475488"/>
          </a:xfrm>
          <a:prstGeom prst="rect">
            <a:avLst/>
          </a:prstGeom>
          <a:noFill/>
          <a:ln/>
        </p:spPr>
        <p:txBody>
          <a:bodyPr wrap="square" lIns="0" tIns="0" rIns="0" bIns="0" rtlCol="0" anchor="ctr"/>
          <a:lstStyle/>
          <a:p>
            <a:pPr marL="0" indent="0">
              <a:buNone/>
            </a:pPr>
            <a:r>
              <a:rPr lang="en-US" sz="2800" b="1" dirty="0">
                <a:solidFill>
                  <a:srgbClr val="0B2437"/>
                </a:solidFill>
                <a:latin typeface="Aptos Display" pitchFamily="34" charset="0"/>
                <a:ea typeface="Aptos Display" pitchFamily="34" charset="-122"/>
                <a:cs typeface="Aptos Display" pitchFamily="34" charset="-120"/>
              </a:rPr>
              <a:t>7. Travail à mener et conclusion</a:t>
            </a:r>
            <a:endParaRPr lang="en-US" sz="2800" dirty="0"/>
          </a:p>
        </p:txBody>
      </p:sp>
      <p:sp>
        <p:nvSpPr>
          <p:cNvPr id="3" name="Text 1"/>
          <p:cNvSpPr/>
          <p:nvPr/>
        </p:nvSpPr>
        <p:spPr>
          <a:xfrm>
            <a:off x="594360" y="896112"/>
            <a:ext cx="10652760" cy="320040"/>
          </a:xfrm>
          <a:prstGeom prst="rect">
            <a:avLst/>
          </a:prstGeom>
          <a:noFill/>
          <a:ln/>
        </p:spPr>
        <p:txBody>
          <a:bodyPr wrap="square" lIns="0" tIns="0" rIns="0" bIns="0" rtlCol="0" anchor="ctr"/>
          <a:lstStyle/>
          <a:p>
            <a:pPr marL="0" indent="0">
              <a:buNone/>
            </a:pPr>
            <a:r>
              <a:rPr lang="en-US" sz="1200" dirty="0">
                <a:solidFill>
                  <a:srgbClr val="607383"/>
                </a:solidFill>
              </a:rPr>
              <a:t>Une trajectoire progressive vers une décision fondée sur les preuves</a:t>
            </a:r>
            <a:endParaRPr lang="en-US" sz="1200" dirty="0"/>
          </a:p>
        </p:txBody>
      </p:sp>
      <p:sp>
        <p:nvSpPr>
          <p:cNvPr id="4" name="Shape 2"/>
          <p:cNvSpPr/>
          <p:nvPr/>
        </p:nvSpPr>
        <p:spPr>
          <a:xfrm>
            <a:off x="1481328" y="1353312"/>
            <a:ext cx="658368" cy="658368"/>
          </a:xfrm>
          <a:prstGeom prst="ellipse">
            <a:avLst/>
          </a:prstGeom>
          <a:solidFill>
            <a:srgbClr val="00A6B2"/>
          </a:solidFill>
          <a:ln w="25400">
            <a:solidFill>
              <a:srgbClr val="FFFFFF"/>
            </a:solidFill>
            <a:prstDash val="solid"/>
          </a:ln>
          <a:effectLst/>
        </p:spPr>
      </p:sp>
      <p:sp>
        <p:nvSpPr>
          <p:cNvPr id="5" name="Text 3"/>
          <p:cNvSpPr/>
          <p:nvPr/>
        </p:nvSpPr>
        <p:spPr>
          <a:xfrm>
            <a:off x="1645920" y="1536192"/>
            <a:ext cx="329184" cy="228600"/>
          </a:xfrm>
          <a:prstGeom prst="rect">
            <a:avLst/>
          </a:prstGeom>
          <a:noFill/>
          <a:ln/>
        </p:spPr>
        <p:txBody>
          <a:bodyPr wrap="square" lIns="0" tIns="0" rIns="0" bIns="0" rtlCol="0" anchor="ctr"/>
          <a:lstStyle/>
          <a:p>
            <a:pPr marL="0" indent="0" algn="ctr">
              <a:buNone/>
            </a:pPr>
            <a:r>
              <a:rPr lang="en-US" sz="1700" b="1" dirty="0">
                <a:solidFill>
                  <a:srgbClr val="FFFFFF"/>
                </a:solidFill>
              </a:rPr>
              <a:t>1</a:t>
            </a:r>
            <a:endParaRPr lang="en-US" sz="1700" dirty="0"/>
          </a:p>
        </p:txBody>
      </p:sp>
      <p:sp>
        <p:nvSpPr>
          <p:cNvPr id="6" name="Text 4"/>
          <p:cNvSpPr/>
          <p:nvPr/>
        </p:nvSpPr>
        <p:spPr>
          <a:xfrm>
            <a:off x="731520" y="2240280"/>
            <a:ext cx="2148840" cy="274320"/>
          </a:xfrm>
          <a:prstGeom prst="rect">
            <a:avLst/>
          </a:prstGeom>
          <a:noFill/>
          <a:ln/>
        </p:spPr>
        <p:txBody>
          <a:bodyPr wrap="square" lIns="0" tIns="0" rIns="0" bIns="0" rtlCol="0" anchor="ctr"/>
          <a:lstStyle/>
          <a:p>
            <a:pPr marL="0" indent="0" algn="ctr">
              <a:buNone/>
            </a:pPr>
            <a:r>
              <a:rPr lang="en-US" sz="1600" b="1" dirty="0">
                <a:solidFill>
                  <a:srgbClr val="0B2437"/>
                </a:solidFill>
              </a:rPr>
              <a:t>Auditer</a:t>
            </a:r>
            <a:endParaRPr lang="en-US" sz="1600" dirty="0"/>
          </a:p>
        </p:txBody>
      </p:sp>
      <p:sp>
        <p:nvSpPr>
          <p:cNvPr id="7" name="Text 5"/>
          <p:cNvSpPr/>
          <p:nvPr/>
        </p:nvSpPr>
        <p:spPr>
          <a:xfrm>
            <a:off x="676656" y="2670048"/>
            <a:ext cx="2267712" cy="960120"/>
          </a:xfrm>
          <a:prstGeom prst="rect">
            <a:avLst/>
          </a:prstGeom>
          <a:noFill/>
          <a:ln/>
        </p:spPr>
        <p:txBody>
          <a:bodyPr wrap="square" lIns="381" tIns="381" rIns="381" bIns="381" rtlCol="0" anchor="t"/>
          <a:lstStyle/>
          <a:p>
            <a:pPr marL="0" indent="0" algn="ctr">
              <a:buNone/>
            </a:pPr>
            <a:r>
              <a:rPr lang="en-US" sz="1100" dirty="0">
                <a:solidFill>
                  <a:srgbClr val="173042"/>
                </a:solidFill>
              </a:rPr>
              <a:t>Qualité des mesures, horodatages, trous, sonde décalée, causes et noms à pseudonymiser.</a:t>
            </a:r>
            <a:endParaRPr lang="en-US" sz="1100" dirty="0"/>
          </a:p>
        </p:txBody>
      </p:sp>
      <p:sp>
        <p:nvSpPr>
          <p:cNvPr id="8" name="Shape 6"/>
          <p:cNvSpPr/>
          <p:nvPr/>
        </p:nvSpPr>
        <p:spPr>
          <a:xfrm>
            <a:off x="2688336" y="1682496"/>
            <a:ext cx="786384" cy="1"/>
          </a:xfrm>
          <a:prstGeom prst="line">
            <a:avLst/>
          </a:prstGeom>
          <a:noFill/>
          <a:ln w="38100">
            <a:solidFill>
              <a:srgbClr val="C9D5DE"/>
            </a:solidFill>
            <a:prstDash val="solid"/>
            <a:tailEnd type="triangle"/>
          </a:ln>
        </p:spPr>
      </p:sp>
      <p:sp>
        <p:nvSpPr>
          <p:cNvPr id="9" name="Shape 7"/>
          <p:cNvSpPr/>
          <p:nvPr/>
        </p:nvSpPr>
        <p:spPr>
          <a:xfrm>
            <a:off x="4297680" y="1353312"/>
            <a:ext cx="658368" cy="658368"/>
          </a:xfrm>
          <a:prstGeom prst="ellipse">
            <a:avLst/>
          </a:prstGeom>
          <a:solidFill>
            <a:srgbClr val="00A6B2"/>
          </a:solidFill>
          <a:ln w="25400">
            <a:solidFill>
              <a:srgbClr val="FFFFFF"/>
            </a:solidFill>
            <a:prstDash val="solid"/>
          </a:ln>
          <a:effectLst/>
        </p:spPr>
      </p:sp>
      <p:sp>
        <p:nvSpPr>
          <p:cNvPr id="10" name="Text 8"/>
          <p:cNvSpPr/>
          <p:nvPr/>
        </p:nvSpPr>
        <p:spPr>
          <a:xfrm>
            <a:off x="4462272" y="1536192"/>
            <a:ext cx="329184" cy="228600"/>
          </a:xfrm>
          <a:prstGeom prst="rect">
            <a:avLst/>
          </a:prstGeom>
          <a:noFill/>
          <a:ln/>
        </p:spPr>
        <p:txBody>
          <a:bodyPr wrap="square" lIns="0" tIns="0" rIns="0" bIns="0" rtlCol="0" anchor="ctr"/>
          <a:lstStyle/>
          <a:p>
            <a:pPr marL="0" indent="0" algn="ctr">
              <a:buNone/>
            </a:pPr>
            <a:r>
              <a:rPr lang="en-US" sz="1700" b="1" dirty="0">
                <a:solidFill>
                  <a:srgbClr val="FFFFFF"/>
                </a:solidFill>
              </a:rPr>
              <a:t>2</a:t>
            </a:r>
            <a:endParaRPr lang="en-US" sz="1700" dirty="0"/>
          </a:p>
        </p:txBody>
      </p:sp>
      <p:sp>
        <p:nvSpPr>
          <p:cNvPr id="11" name="Text 9"/>
          <p:cNvSpPr/>
          <p:nvPr/>
        </p:nvSpPr>
        <p:spPr>
          <a:xfrm>
            <a:off x="3547872" y="2240280"/>
            <a:ext cx="2148840" cy="274320"/>
          </a:xfrm>
          <a:prstGeom prst="rect">
            <a:avLst/>
          </a:prstGeom>
          <a:noFill/>
          <a:ln/>
        </p:spPr>
        <p:txBody>
          <a:bodyPr wrap="square" lIns="0" tIns="0" rIns="0" bIns="0" rtlCol="0" anchor="ctr"/>
          <a:lstStyle/>
          <a:p>
            <a:pPr marL="0" indent="0" algn="ctr">
              <a:buNone/>
            </a:pPr>
            <a:r>
              <a:rPr lang="en-US" sz="1600" b="1" dirty="0">
                <a:solidFill>
                  <a:srgbClr val="0B2437"/>
                </a:solidFill>
              </a:rPr>
              <a:t>Tester hors ligne</a:t>
            </a:r>
            <a:endParaRPr lang="en-US" sz="1600" dirty="0"/>
          </a:p>
        </p:txBody>
      </p:sp>
      <p:sp>
        <p:nvSpPr>
          <p:cNvPr id="12" name="Text 10"/>
          <p:cNvSpPr/>
          <p:nvPr/>
        </p:nvSpPr>
        <p:spPr>
          <a:xfrm>
            <a:off x="3493008" y="2670048"/>
            <a:ext cx="2267712" cy="960120"/>
          </a:xfrm>
          <a:prstGeom prst="rect">
            <a:avLst/>
          </a:prstGeom>
          <a:noFill/>
          <a:ln/>
        </p:spPr>
        <p:txBody>
          <a:bodyPr wrap="square" lIns="381" tIns="381" rIns="381" bIns="381" rtlCol="0" anchor="t"/>
          <a:lstStyle/>
          <a:p>
            <a:pPr marL="0" indent="0" algn="ctr">
              <a:buNone/>
            </a:pPr>
            <a:r>
              <a:rPr lang="en-US" sz="1100" dirty="0">
                <a:solidFill>
                  <a:srgbClr val="173042"/>
                </a:solidFill>
              </a:rPr>
              <a:t>Comparer règles métier et ML classique sur des périodes futures non vues.</a:t>
            </a:r>
            <a:endParaRPr lang="en-US" sz="1100" dirty="0"/>
          </a:p>
        </p:txBody>
      </p:sp>
      <p:sp>
        <p:nvSpPr>
          <p:cNvPr id="13" name="Shape 11"/>
          <p:cNvSpPr/>
          <p:nvPr/>
        </p:nvSpPr>
        <p:spPr>
          <a:xfrm>
            <a:off x="5504688" y="1682496"/>
            <a:ext cx="786384" cy="1"/>
          </a:xfrm>
          <a:prstGeom prst="line">
            <a:avLst/>
          </a:prstGeom>
          <a:noFill/>
          <a:ln w="38100">
            <a:solidFill>
              <a:srgbClr val="C9D5DE"/>
            </a:solidFill>
            <a:prstDash val="solid"/>
            <a:tailEnd type="triangle"/>
          </a:ln>
        </p:spPr>
      </p:sp>
      <p:sp>
        <p:nvSpPr>
          <p:cNvPr id="14" name="Shape 12"/>
          <p:cNvSpPr/>
          <p:nvPr/>
        </p:nvSpPr>
        <p:spPr>
          <a:xfrm>
            <a:off x="7114032" y="1353312"/>
            <a:ext cx="658368" cy="658368"/>
          </a:xfrm>
          <a:prstGeom prst="ellipse">
            <a:avLst/>
          </a:prstGeom>
          <a:solidFill>
            <a:srgbClr val="00A6B2"/>
          </a:solidFill>
          <a:ln w="25400">
            <a:solidFill>
              <a:srgbClr val="FFFFFF"/>
            </a:solidFill>
            <a:prstDash val="solid"/>
          </a:ln>
          <a:effectLst/>
        </p:spPr>
      </p:sp>
      <p:sp>
        <p:nvSpPr>
          <p:cNvPr id="15" name="Text 13"/>
          <p:cNvSpPr/>
          <p:nvPr/>
        </p:nvSpPr>
        <p:spPr>
          <a:xfrm>
            <a:off x="7278624" y="1536192"/>
            <a:ext cx="329184" cy="228600"/>
          </a:xfrm>
          <a:prstGeom prst="rect">
            <a:avLst/>
          </a:prstGeom>
          <a:noFill/>
          <a:ln/>
        </p:spPr>
        <p:txBody>
          <a:bodyPr wrap="square" lIns="0" tIns="0" rIns="0" bIns="0" rtlCol="0" anchor="ctr"/>
          <a:lstStyle/>
          <a:p>
            <a:pPr marL="0" indent="0" algn="ctr">
              <a:buNone/>
            </a:pPr>
            <a:r>
              <a:rPr lang="en-US" sz="1700" b="1" dirty="0">
                <a:solidFill>
                  <a:srgbClr val="FFFFFF"/>
                </a:solidFill>
              </a:rPr>
              <a:t>3</a:t>
            </a:r>
            <a:endParaRPr lang="en-US" sz="1700" dirty="0"/>
          </a:p>
        </p:txBody>
      </p:sp>
      <p:sp>
        <p:nvSpPr>
          <p:cNvPr id="16" name="Text 14"/>
          <p:cNvSpPr/>
          <p:nvPr/>
        </p:nvSpPr>
        <p:spPr>
          <a:xfrm>
            <a:off x="6364224" y="2240280"/>
            <a:ext cx="2148840" cy="274320"/>
          </a:xfrm>
          <a:prstGeom prst="rect">
            <a:avLst/>
          </a:prstGeom>
          <a:noFill/>
          <a:ln/>
        </p:spPr>
        <p:txBody>
          <a:bodyPr wrap="square" lIns="0" tIns="0" rIns="0" bIns="0" rtlCol="0" anchor="ctr"/>
          <a:lstStyle/>
          <a:p>
            <a:pPr marL="0" indent="0" algn="ctr">
              <a:buNone/>
            </a:pPr>
            <a:r>
              <a:rPr lang="en-US" sz="1600" b="1" dirty="0">
                <a:solidFill>
                  <a:srgbClr val="0B2437"/>
                </a:solidFill>
              </a:rPr>
              <a:t>Piloter sur un bain</a:t>
            </a:r>
            <a:endParaRPr lang="en-US" sz="1600" dirty="0"/>
          </a:p>
        </p:txBody>
      </p:sp>
      <p:sp>
        <p:nvSpPr>
          <p:cNvPr id="17" name="Text 15"/>
          <p:cNvSpPr/>
          <p:nvPr/>
        </p:nvSpPr>
        <p:spPr>
          <a:xfrm>
            <a:off x="6309360" y="2670048"/>
            <a:ext cx="2267712" cy="960120"/>
          </a:xfrm>
          <a:prstGeom prst="rect">
            <a:avLst/>
          </a:prstGeom>
          <a:noFill/>
          <a:ln/>
        </p:spPr>
        <p:txBody>
          <a:bodyPr wrap="square" lIns="381" tIns="381" rIns="381" bIns="381" rtlCol="0" anchor="t"/>
          <a:lstStyle/>
          <a:p>
            <a:pPr marL="0" indent="0" algn="ctr">
              <a:buNone/>
            </a:pPr>
            <a:r>
              <a:rPr lang="en-US" sz="1100" dirty="0">
                <a:solidFill>
                  <a:srgbClr val="173042"/>
                </a:solidFill>
              </a:rPr>
              <a:t>Observation en lecture seule avant l’arrêt technique annuel de février.</a:t>
            </a:r>
            <a:endParaRPr lang="en-US" sz="1100" dirty="0"/>
          </a:p>
        </p:txBody>
      </p:sp>
      <p:sp>
        <p:nvSpPr>
          <p:cNvPr id="18" name="Shape 16"/>
          <p:cNvSpPr/>
          <p:nvPr/>
        </p:nvSpPr>
        <p:spPr>
          <a:xfrm>
            <a:off x="8321040" y="1682496"/>
            <a:ext cx="786384" cy="1"/>
          </a:xfrm>
          <a:prstGeom prst="line">
            <a:avLst/>
          </a:prstGeom>
          <a:noFill/>
          <a:ln w="38100">
            <a:solidFill>
              <a:srgbClr val="C9D5DE"/>
            </a:solidFill>
            <a:prstDash val="solid"/>
            <a:tailEnd type="triangle"/>
          </a:ln>
        </p:spPr>
      </p:sp>
      <p:sp>
        <p:nvSpPr>
          <p:cNvPr id="19" name="Shape 17"/>
          <p:cNvSpPr/>
          <p:nvPr/>
        </p:nvSpPr>
        <p:spPr>
          <a:xfrm>
            <a:off x="9930384" y="1353312"/>
            <a:ext cx="658368" cy="658368"/>
          </a:xfrm>
          <a:prstGeom prst="ellipse">
            <a:avLst/>
          </a:prstGeom>
          <a:solidFill>
            <a:srgbClr val="0B2437"/>
          </a:solidFill>
          <a:ln w="25400">
            <a:solidFill>
              <a:srgbClr val="FFFFFF"/>
            </a:solidFill>
            <a:prstDash val="solid"/>
          </a:ln>
          <a:effectLst/>
        </p:spPr>
      </p:sp>
      <p:sp>
        <p:nvSpPr>
          <p:cNvPr id="20" name="Text 18"/>
          <p:cNvSpPr/>
          <p:nvPr/>
        </p:nvSpPr>
        <p:spPr>
          <a:xfrm>
            <a:off x="10094976" y="1536192"/>
            <a:ext cx="329184" cy="228600"/>
          </a:xfrm>
          <a:prstGeom prst="rect">
            <a:avLst/>
          </a:prstGeom>
          <a:noFill/>
          <a:ln/>
        </p:spPr>
        <p:txBody>
          <a:bodyPr wrap="square" lIns="0" tIns="0" rIns="0" bIns="0" rtlCol="0" anchor="ctr"/>
          <a:lstStyle/>
          <a:p>
            <a:pPr marL="0" indent="0" algn="ctr">
              <a:buNone/>
            </a:pPr>
            <a:r>
              <a:rPr lang="en-US" sz="1700" b="1" dirty="0">
                <a:solidFill>
                  <a:srgbClr val="FFFFFF"/>
                </a:solidFill>
              </a:rPr>
              <a:t>4</a:t>
            </a:r>
            <a:endParaRPr lang="en-US" sz="1700" dirty="0"/>
          </a:p>
        </p:txBody>
      </p:sp>
      <p:sp>
        <p:nvSpPr>
          <p:cNvPr id="21" name="Text 19"/>
          <p:cNvSpPr/>
          <p:nvPr/>
        </p:nvSpPr>
        <p:spPr>
          <a:xfrm>
            <a:off x="9180576" y="2240280"/>
            <a:ext cx="2148840" cy="274320"/>
          </a:xfrm>
          <a:prstGeom prst="rect">
            <a:avLst/>
          </a:prstGeom>
          <a:noFill/>
          <a:ln/>
        </p:spPr>
        <p:txBody>
          <a:bodyPr wrap="square" lIns="0" tIns="0" rIns="0" bIns="0" rtlCol="0" anchor="ctr"/>
          <a:lstStyle/>
          <a:p>
            <a:pPr marL="0" indent="0" algn="ctr">
              <a:buNone/>
            </a:pPr>
            <a:r>
              <a:rPr lang="en-US" sz="1600" b="1" dirty="0">
                <a:solidFill>
                  <a:srgbClr val="0B2437"/>
                </a:solidFill>
              </a:rPr>
              <a:t>Décider</a:t>
            </a:r>
            <a:endParaRPr lang="en-US" sz="1600" dirty="0"/>
          </a:p>
        </p:txBody>
      </p:sp>
      <p:sp>
        <p:nvSpPr>
          <p:cNvPr id="22" name="Text 20"/>
          <p:cNvSpPr/>
          <p:nvPr/>
        </p:nvSpPr>
        <p:spPr>
          <a:xfrm>
            <a:off x="9125712" y="2670048"/>
            <a:ext cx="2267712" cy="960120"/>
          </a:xfrm>
          <a:prstGeom prst="rect">
            <a:avLst/>
          </a:prstGeom>
          <a:noFill/>
          <a:ln/>
        </p:spPr>
        <p:txBody>
          <a:bodyPr wrap="square" lIns="381" tIns="381" rIns="381" bIns="381" rtlCol="0" anchor="t"/>
          <a:lstStyle/>
          <a:p>
            <a:pPr marL="0" indent="0" algn="ctr">
              <a:buNone/>
            </a:pPr>
            <a:r>
              <a:rPr lang="en-US" sz="1100" dirty="0">
                <a:solidFill>
                  <a:srgbClr val="173042"/>
                </a:solidFill>
              </a:rPr>
              <a:t>Généraliser, ajuster ou arrêter selon les KPI, la valeur et la sûreté.</a:t>
            </a:r>
            <a:endParaRPr lang="en-US" sz="1100" dirty="0"/>
          </a:p>
        </p:txBody>
      </p:sp>
      <p:sp>
        <p:nvSpPr>
          <p:cNvPr id="23" name="Shape 21"/>
          <p:cNvSpPr/>
          <p:nvPr/>
        </p:nvSpPr>
        <p:spPr>
          <a:xfrm>
            <a:off x="713232" y="4160520"/>
            <a:ext cx="10789920" cy="1298448"/>
          </a:xfrm>
          <a:prstGeom prst="roundRect">
            <a:avLst>
              <a:gd name="adj" fmla="val 5634"/>
            </a:avLst>
          </a:prstGeom>
          <a:solidFill>
            <a:srgbClr val="0B2437"/>
          </a:solidFill>
          <a:ln w="12700">
            <a:solidFill>
              <a:srgbClr val="0B2437"/>
            </a:solidFill>
            <a:prstDash val="solid"/>
          </a:ln>
          <a:effectLst/>
        </p:spPr>
      </p:sp>
      <p:sp>
        <p:nvSpPr>
          <p:cNvPr id="24" name="Text 22"/>
          <p:cNvSpPr/>
          <p:nvPr/>
        </p:nvSpPr>
        <p:spPr>
          <a:xfrm>
            <a:off x="960120" y="4453128"/>
            <a:ext cx="1600200" cy="256032"/>
          </a:xfrm>
          <a:prstGeom prst="rect">
            <a:avLst/>
          </a:prstGeom>
          <a:noFill/>
          <a:ln/>
        </p:spPr>
        <p:txBody>
          <a:bodyPr wrap="square" lIns="0" tIns="0" rIns="0" bIns="0" rtlCol="0" anchor="ctr"/>
          <a:lstStyle/>
          <a:p>
            <a:pPr marL="0" indent="0">
              <a:buNone/>
            </a:pPr>
            <a:r>
              <a:rPr lang="en-US" sz="1300" b="1" dirty="0">
                <a:solidFill>
                  <a:srgbClr val="48D1CC"/>
                </a:solidFill>
              </a:rPr>
              <a:t>RECOMMANDATION</a:t>
            </a:r>
            <a:endParaRPr lang="en-US" sz="1300" dirty="0"/>
          </a:p>
        </p:txBody>
      </p:sp>
      <p:sp>
        <p:nvSpPr>
          <p:cNvPr id="25" name="Text 23"/>
          <p:cNvSpPr/>
          <p:nvPr/>
        </p:nvSpPr>
        <p:spPr>
          <a:xfrm>
            <a:off x="3063240" y="4352544"/>
            <a:ext cx="7909560" cy="566928"/>
          </a:xfrm>
          <a:prstGeom prst="rect">
            <a:avLst/>
          </a:prstGeom>
          <a:noFill/>
          <a:ln/>
        </p:spPr>
        <p:txBody>
          <a:bodyPr wrap="square" lIns="254" tIns="254" rIns="254" bIns="254" rtlCol="0" anchor="ctr"/>
          <a:lstStyle/>
          <a:p>
            <a:pPr marL="0" indent="0">
              <a:buNone/>
            </a:pPr>
            <a:r>
              <a:rPr lang="en-US" sz="1800" b="1" dirty="0">
                <a:solidFill>
                  <a:srgbClr val="FFFFFF"/>
                </a:solidFill>
              </a:rPr>
              <a:t>Lancer un pilote de maintenance prédictive sur un bain avec validation humaine systématique. N’automatiser l’arrêt que si le gain métier et la sûreté sont démontrés par les résultats.</a:t>
            </a:r>
            <a:endParaRPr lang="en-US" sz="1800" dirty="0"/>
          </a:p>
        </p:txBody>
      </p:sp>
      <p:sp>
        <p:nvSpPr>
          <p:cNvPr id="26" name="Text 24"/>
          <p:cNvSpPr/>
          <p:nvPr/>
        </p:nvSpPr>
        <p:spPr>
          <a:xfrm>
            <a:off x="731520" y="5806440"/>
            <a:ext cx="10744200" cy="320040"/>
          </a:xfrm>
          <a:prstGeom prst="rect">
            <a:avLst/>
          </a:prstGeom>
          <a:noFill/>
          <a:ln/>
        </p:spPr>
        <p:txBody>
          <a:bodyPr wrap="square" lIns="0" tIns="0" rIns="0" bIns="0" rtlCol="0" anchor="ctr"/>
          <a:lstStyle/>
          <a:p>
            <a:pPr marL="0" indent="0" algn="ctr">
              <a:buNone/>
            </a:pPr>
            <a:r>
              <a:rPr lang="en-US" sz="1400" b="1" dirty="0">
                <a:solidFill>
                  <a:srgbClr val="00A6B2"/>
                </a:solidFill>
              </a:rPr>
              <a:t>Sobriété • Traçabilité • Sécurité industrielle • Décision fondée sur les preuves</a:t>
            </a:r>
            <a:endParaRPr lang="en-US" sz="1400" dirty="0"/>
          </a:p>
        </p:txBody>
      </p:sp>
      <p:sp>
        <p:nvSpPr>
          <p:cNvPr id="27" name="Slide Number Placeholder 0"/>
          <p:cNvSpPr>
            <a:spLocks noGrp="1"/>
          </p:cNvSpPr>
          <p:nvPr>
            <p:ph type="sldNum" sz="quarter" idx="4294967295"/>
          </p:nvPr>
        </p:nvSpPr>
        <p:spPr>
          <a:xfrm>
            <a:off x="11722608" y="6528816"/>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785"/>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Galvaplus : de la supervision réactive à la maintenance prédictive</dc:title>
  <dc:subject>Cadrage IA - Maintenance prédictive Galvaplus Industries</dc:subject>
  <dc:creator>Joelle Germanos</dc:creator>
  <cp:lastModifiedBy>Joelle Germanos</cp:lastModifiedBy>
  <cp:revision>2</cp:revision>
  <dcterms:created xsi:type="dcterms:W3CDTF">2026-09-30T09:35:18Z</dcterms:created>
  <dcterms:modified xsi:type="dcterms:W3CDTF">2026-09-30T09:37:58Z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463cba9-5f6c-478d-9329-7b2295e4e8ed_Enabled">
    <vt:lpwstr>true</vt:lpwstr>
  </property>
  <property fmtid="{D5CDD505-2E9C-101B-9397-08002B2CF9AE}" pid="3" name="MSIP_Label_e463cba9-5f6c-478d-9329-7b2295e4e8ed_SetDate">
    <vt:lpwstr>2026-09-30T09:35:18Z</vt:lpwstr>
  </property>
  <property fmtid="{D5CDD505-2E9C-101B-9397-08002B2CF9AE}" pid="4" name="MSIP_Label_e463cba9-5f6c-478d-9329-7b2295e4e8ed_Method">
    <vt:lpwstr>Standard</vt:lpwstr>
  </property>
  <property fmtid="{D5CDD505-2E9C-101B-9397-08002B2CF9AE}" pid="5" name="MSIP_Label_e463cba9-5f6c-478d-9329-7b2295e4e8ed_Name">
    <vt:lpwstr>All Employees_2</vt:lpwstr>
  </property>
  <property fmtid="{D5CDD505-2E9C-101B-9397-08002B2CF9AE}" pid="6" name="MSIP_Label_e463cba9-5f6c-478d-9329-7b2295e4e8ed_SiteId">
    <vt:lpwstr>33440fc6-b7c7-412c-bb73-0e70b0198d5a</vt:lpwstr>
  </property>
  <property fmtid="{D5CDD505-2E9C-101B-9397-08002B2CF9AE}" pid="7" name="MSIP_Label_e463cba9-5f6c-478d-9329-7b2295e4e8ed_ActionId">
    <vt:lpwstr>1cfaaa17-2798-444c-9bb8-34ed64c1f529</vt:lpwstr>
  </property>
  <property fmtid="{D5CDD505-2E9C-101B-9397-08002B2CF9AE}" pid="8" name="MSIP_Label_e463cba9-5f6c-478d-9329-7b2295e4e8ed_ContentBits">
    <vt:lpwstr>0</vt:lpwstr>
  </property>
</Properties>
</file>